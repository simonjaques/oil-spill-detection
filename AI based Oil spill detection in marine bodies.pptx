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1" r:id="rId7"/>
    <p:sldId id="268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al MT Pro" panose="020B0604020202020204" charset="0"/>
      <p:regular r:id="rId12"/>
    </p:embeddedFont>
    <p:embeddedFont>
      <p:font typeface="Arial MT Pro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Funnel Display 300" panose="020B0604020202020204" charset="0"/>
      <p:regular r:id="rId18"/>
    </p:embeddedFont>
    <p:embeddedFont>
      <p:font typeface="Funnel Display 600" panose="020B0604020202020204" charset="0"/>
      <p:regular r:id="rId19"/>
    </p:embeddedFont>
    <p:embeddedFont>
      <p:font typeface="Funnel Display Regular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7" autoAdjust="0"/>
    <p:restoredTop sz="94622" autoAdjust="0"/>
  </p:normalViewPr>
  <p:slideViewPr>
    <p:cSldViewPr>
      <p:cViewPr>
        <p:scale>
          <a:sx n="50" d="100"/>
          <a:sy n="50" d="100"/>
        </p:scale>
        <p:origin x="327" y="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imonjaques/Oil-Spill-Dete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40554" y="1297534"/>
            <a:ext cx="11404113" cy="11487660"/>
          </a:xfrm>
          <a:custGeom>
            <a:avLst/>
            <a:gdLst/>
            <a:ahLst/>
            <a:cxnLst/>
            <a:rect l="l" t="t" r="r" b="b"/>
            <a:pathLst>
              <a:path w="11404113" h="11487660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2289022"/>
            <a:ext cx="10704079" cy="2591030"/>
            <a:chOff x="0" y="0"/>
            <a:chExt cx="1899754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99754" cy="406400"/>
            </a:xfrm>
            <a:custGeom>
              <a:avLst/>
              <a:gdLst/>
              <a:ahLst/>
              <a:cxnLst/>
              <a:rect l="l" t="t" r="r" b="b"/>
              <a:pathLst>
                <a:path w="1899754" h="406400">
                  <a:moveTo>
                    <a:pt x="1696554" y="0"/>
                  </a:moveTo>
                  <a:cubicBezTo>
                    <a:pt x="1808778" y="0"/>
                    <a:pt x="1899754" y="90976"/>
                    <a:pt x="1899754" y="203200"/>
                  </a:cubicBezTo>
                  <a:cubicBezTo>
                    <a:pt x="1899754" y="315424"/>
                    <a:pt x="1808778" y="406400"/>
                    <a:pt x="1696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99754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16286" y="808940"/>
            <a:ext cx="499539" cy="503199"/>
          </a:xfrm>
          <a:custGeom>
            <a:avLst/>
            <a:gdLst/>
            <a:ahLst/>
            <a:cxnLst/>
            <a:rect l="l" t="t" r="r" b="b"/>
            <a:pathLst>
              <a:path w="499539" h="50319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383774">
            <a:off x="7799251" y="197405"/>
            <a:ext cx="11226909" cy="14341591"/>
            <a:chOff x="0" y="0"/>
            <a:chExt cx="2956881" cy="37772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56881" cy="3777209"/>
            </a:xfrm>
            <a:custGeom>
              <a:avLst/>
              <a:gdLst/>
              <a:ahLst/>
              <a:cxnLst/>
              <a:rect l="l" t="t" r="r" b="b"/>
              <a:pathLst>
                <a:path w="2956881" h="3777209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1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1383774">
            <a:off x="7044185" y="385990"/>
            <a:ext cx="10773748" cy="14341591"/>
            <a:chOff x="0" y="0"/>
            <a:chExt cx="2837530" cy="37772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37530" cy="3777209"/>
            </a:xfrm>
            <a:custGeom>
              <a:avLst/>
              <a:gdLst/>
              <a:ahLst/>
              <a:cxnLst/>
              <a:rect l="l" t="t" r="r" b="b"/>
              <a:pathLst>
                <a:path w="2837530" h="3777209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1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7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66055" y="2096105"/>
            <a:ext cx="14785718" cy="2591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716"/>
              </a:lnSpc>
            </a:pPr>
            <a:r>
              <a:rPr lang="en-US" sz="4800" b="1" spc="-194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Detecting Oil spills at marine environment using AIS and satellite datasets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0475" y="941267"/>
            <a:ext cx="1302079" cy="31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576" b="1" spc="-4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NovaX</a:t>
            </a:r>
            <a:endParaRPr lang="en-US" sz="2576" b="1" spc="-4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179026" y="920927"/>
            <a:ext cx="1136202" cy="21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About Us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21551" y="920927"/>
            <a:ext cx="811975" cy="21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87"/>
              </a:lnSpc>
            </a:pPr>
            <a:r>
              <a:rPr lang="en-US" sz="1576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Menu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8EA4828-184F-47F7-BB1B-89C89025D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0236" y="228218"/>
            <a:ext cx="1888501" cy="128352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9CCDB31-13DD-466A-8CDB-0EBB2D67DF4D}"/>
              </a:ext>
            </a:extLst>
          </p:cNvPr>
          <p:cNvSpPr/>
          <p:nvPr/>
        </p:nvSpPr>
        <p:spPr>
          <a:xfrm>
            <a:off x="9094979" y="5160818"/>
            <a:ext cx="84952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2835"/>
              </a:spcBef>
            </a:pPr>
            <a:r>
              <a:rPr lang="en-IN" sz="3200" b="1" dirty="0">
                <a:solidFill>
                  <a:schemeClr val="bg1"/>
                </a:solidFill>
                <a:latin typeface="Arial MT"/>
                <a:cs typeface="Arial MT"/>
              </a:rPr>
              <a:t>Theme</a:t>
            </a:r>
            <a:r>
              <a:rPr lang="en-IN" sz="3200" b="1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IN" sz="3200" b="1" spc="-50" dirty="0">
                <a:solidFill>
                  <a:schemeClr val="bg1"/>
                </a:solidFill>
                <a:latin typeface="Arial MT"/>
                <a:cs typeface="Arial MT"/>
              </a:rPr>
              <a:t>:</a:t>
            </a:r>
            <a:r>
              <a:rPr lang="en-IN" sz="3200" b="1" dirty="0">
                <a:solidFill>
                  <a:schemeClr val="bg1"/>
                </a:solidFill>
              </a:rPr>
              <a:t>Artificial Intelligence &amp; Environmental Sustainability</a:t>
            </a:r>
            <a:endParaRPr lang="en-IN" sz="3200" b="1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grpSp>
        <p:nvGrpSpPr>
          <p:cNvPr id="32" name="Group 3">
            <a:extLst>
              <a:ext uri="{FF2B5EF4-FFF2-40B4-BE49-F238E27FC236}">
                <a16:creationId xmlns:a16="http://schemas.microsoft.com/office/drawing/2014/main" id="{4FE1B40C-DFEC-4888-B2FE-89141639316C}"/>
              </a:ext>
            </a:extLst>
          </p:cNvPr>
          <p:cNvGrpSpPr/>
          <p:nvPr/>
        </p:nvGrpSpPr>
        <p:grpSpPr>
          <a:xfrm>
            <a:off x="8686801" y="4992346"/>
            <a:ext cx="8686800" cy="1370354"/>
            <a:chOff x="0" y="0"/>
            <a:chExt cx="1899754" cy="406400"/>
          </a:xfrm>
        </p:grpSpPr>
        <p:sp>
          <p:nvSpPr>
            <p:cNvPr id="33" name="Freeform 4">
              <a:extLst>
                <a:ext uri="{FF2B5EF4-FFF2-40B4-BE49-F238E27FC236}">
                  <a16:creationId xmlns:a16="http://schemas.microsoft.com/office/drawing/2014/main" id="{7DEA7BFA-5BFF-4A8B-A131-69A1635F7E26}"/>
                </a:ext>
              </a:extLst>
            </p:cNvPr>
            <p:cNvSpPr/>
            <p:nvPr/>
          </p:nvSpPr>
          <p:spPr>
            <a:xfrm>
              <a:off x="0" y="0"/>
              <a:ext cx="1899754" cy="406400"/>
            </a:xfrm>
            <a:custGeom>
              <a:avLst/>
              <a:gdLst/>
              <a:ahLst/>
              <a:cxnLst/>
              <a:rect l="l" t="t" r="r" b="b"/>
              <a:pathLst>
                <a:path w="1899754" h="406400">
                  <a:moveTo>
                    <a:pt x="1696554" y="0"/>
                  </a:moveTo>
                  <a:cubicBezTo>
                    <a:pt x="1808778" y="0"/>
                    <a:pt x="1899754" y="90976"/>
                    <a:pt x="1899754" y="203200"/>
                  </a:cubicBezTo>
                  <a:cubicBezTo>
                    <a:pt x="1899754" y="315424"/>
                    <a:pt x="1808778" y="406400"/>
                    <a:pt x="1696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4" name="TextBox 5">
              <a:extLst>
                <a:ext uri="{FF2B5EF4-FFF2-40B4-BE49-F238E27FC236}">
                  <a16:creationId xmlns:a16="http://schemas.microsoft.com/office/drawing/2014/main" id="{863586CC-2BA7-4811-8E59-6981EB6A2A2E}"/>
                </a:ext>
              </a:extLst>
            </p:cNvPr>
            <p:cNvSpPr txBox="1"/>
            <p:nvPr/>
          </p:nvSpPr>
          <p:spPr>
            <a:xfrm>
              <a:off x="0" y="-38100"/>
              <a:ext cx="1899754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76128A0C-A88B-40D0-93C4-7DA49397DD8E}"/>
              </a:ext>
            </a:extLst>
          </p:cNvPr>
          <p:cNvSpPr/>
          <p:nvPr/>
        </p:nvSpPr>
        <p:spPr>
          <a:xfrm>
            <a:off x="4108362" y="8046249"/>
            <a:ext cx="40281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2835"/>
              </a:spcBef>
            </a:pPr>
            <a:r>
              <a:rPr lang="en-IN" spc="-80" dirty="0">
                <a:latin typeface="Arial MT"/>
                <a:cs typeface="Arial MT"/>
              </a:rPr>
              <a:t>Team</a:t>
            </a:r>
            <a:r>
              <a:rPr lang="en-IN" spc="-120" dirty="0">
                <a:latin typeface="Arial MT"/>
                <a:cs typeface="Arial MT"/>
              </a:rPr>
              <a:t> </a:t>
            </a:r>
            <a:r>
              <a:rPr lang="en-IN" sz="2800" b="1" spc="-120" dirty="0" err="1">
                <a:solidFill>
                  <a:schemeClr val="bg1"/>
                </a:solidFill>
                <a:latin typeface="Arial MT"/>
                <a:cs typeface="Arial MT"/>
              </a:rPr>
              <a:t>Team</a:t>
            </a:r>
            <a:r>
              <a:rPr lang="en-IN" sz="2800" b="1" spc="-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IN" sz="2800" b="1" spc="-50" dirty="0" err="1">
                <a:solidFill>
                  <a:schemeClr val="bg1"/>
                </a:solidFill>
                <a:latin typeface="Arial MT"/>
                <a:cs typeface="Arial MT"/>
              </a:rPr>
              <a:t>NovaX</a:t>
            </a:r>
            <a:endParaRPr lang="en-IN" b="1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grpSp>
        <p:nvGrpSpPr>
          <p:cNvPr id="36" name="Group 3">
            <a:extLst>
              <a:ext uri="{FF2B5EF4-FFF2-40B4-BE49-F238E27FC236}">
                <a16:creationId xmlns:a16="http://schemas.microsoft.com/office/drawing/2014/main" id="{44B343AA-5235-49A9-903A-90B25E44789A}"/>
              </a:ext>
            </a:extLst>
          </p:cNvPr>
          <p:cNvGrpSpPr/>
          <p:nvPr/>
        </p:nvGrpSpPr>
        <p:grpSpPr>
          <a:xfrm>
            <a:off x="4337932" y="7956081"/>
            <a:ext cx="2901068" cy="685800"/>
            <a:chOff x="0" y="0"/>
            <a:chExt cx="1899754" cy="406400"/>
          </a:xfrm>
        </p:grpSpPr>
        <p:sp>
          <p:nvSpPr>
            <p:cNvPr id="37" name="Freeform 4">
              <a:extLst>
                <a:ext uri="{FF2B5EF4-FFF2-40B4-BE49-F238E27FC236}">
                  <a16:creationId xmlns:a16="http://schemas.microsoft.com/office/drawing/2014/main" id="{61F149C8-D699-43E6-84EE-6A87C39B2DC9}"/>
                </a:ext>
              </a:extLst>
            </p:cNvPr>
            <p:cNvSpPr/>
            <p:nvPr/>
          </p:nvSpPr>
          <p:spPr>
            <a:xfrm>
              <a:off x="0" y="0"/>
              <a:ext cx="1899754" cy="406400"/>
            </a:xfrm>
            <a:custGeom>
              <a:avLst/>
              <a:gdLst/>
              <a:ahLst/>
              <a:cxnLst/>
              <a:rect l="l" t="t" r="r" b="b"/>
              <a:pathLst>
                <a:path w="1899754" h="406400">
                  <a:moveTo>
                    <a:pt x="1696554" y="0"/>
                  </a:moveTo>
                  <a:cubicBezTo>
                    <a:pt x="1808778" y="0"/>
                    <a:pt x="1899754" y="90976"/>
                    <a:pt x="1899754" y="203200"/>
                  </a:cubicBezTo>
                  <a:cubicBezTo>
                    <a:pt x="1899754" y="315424"/>
                    <a:pt x="1808778" y="406400"/>
                    <a:pt x="1696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8" name="TextBox 5">
              <a:extLst>
                <a:ext uri="{FF2B5EF4-FFF2-40B4-BE49-F238E27FC236}">
                  <a16:creationId xmlns:a16="http://schemas.microsoft.com/office/drawing/2014/main" id="{F8B02EFA-F6DF-4D46-8039-D675FD6C91BA}"/>
                </a:ext>
              </a:extLst>
            </p:cNvPr>
            <p:cNvSpPr txBox="1"/>
            <p:nvPr/>
          </p:nvSpPr>
          <p:spPr>
            <a:xfrm>
              <a:off x="0" y="-38100"/>
              <a:ext cx="1899754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A080CB4C-BC6F-4864-A4AD-44BD7B497FCD}"/>
              </a:ext>
            </a:extLst>
          </p:cNvPr>
          <p:cNvSpPr/>
          <p:nvPr/>
        </p:nvSpPr>
        <p:spPr>
          <a:xfrm>
            <a:off x="2406350" y="9029700"/>
            <a:ext cx="83323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spc="-50" dirty="0">
                <a:solidFill>
                  <a:schemeClr val="bg1"/>
                </a:solidFill>
                <a:latin typeface="Arial MT"/>
                <a:cs typeface="Arial MT"/>
              </a:rPr>
              <a:t>Team leader: Simon </a:t>
            </a:r>
            <a:r>
              <a:rPr lang="en-IN" sz="2400" b="1" spc="-50" dirty="0" err="1">
                <a:solidFill>
                  <a:schemeClr val="bg1"/>
                </a:solidFill>
                <a:latin typeface="Arial MT"/>
                <a:cs typeface="Arial MT"/>
              </a:rPr>
              <a:t>Jaques</a:t>
            </a:r>
            <a:r>
              <a:rPr lang="en-IN" sz="2400" b="1" spc="-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IN" sz="2400" b="1" spc="-50" dirty="0" err="1">
                <a:solidFill>
                  <a:schemeClr val="bg1"/>
                </a:solidFill>
                <a:latin typeface="Arial MT"/>
                <a:cs typeface="Arial MT"/>
              </a:rPr>
              <a:t>Mascarenhas</a:t>
            </a:r>
            <a:r>
              <a:rPr lang="en-IN" sz="2400" b="1" spc="-50" dirty="0">
                <a:solidFill>
                  <a:schemeClr val="bg1"/>
                </a:solidFill>
                <a:latin typeface="Arial MT"/>
                <a:cs typeface="Arial MT"/>
              </a:rPr>
              <a:t> J ( Dept of ECE)</a:t>
            </a:r>
            <a:endParaRPr lang="en-IN" sz="2400" dirty="0"/>
          </a:p>
        </p:txBody>
      </p:sp>
      <p:grpSp>
        <p:nvGrpSpPr>
          <p:cNvPr id="40" name="Group 3">
            <a:extLst>
              <a:ext uri="{FF2B5EF4-FFF2-40B4-BE49-F238E27FC236}">
                <a16:creationId xmlns:a16="http://schemas.microsoft.com/office/drawing/2014/main" id="{AC49F70E-BD42-4097-A315-BF34BB4AFAE0}"/>
              </a:ext>
            </a:extLst>
          </p:cNvPr>
          <p:cNvGrpSpPr/>
          <p:nvPr/>
        </p:nvGrpSpPr>
        <p:grpSpPr>
          <a:xfrm>
            <a:off x="1676400" y="8871466"/>
            <a:ext cx="9524999" cy="685800"/>
            <a:chOff x="0" y="0"/>
            <a:chExt cx="1899754" cy="406400"/>
          </a:xfrm>
        </p:grpSpPr>
        <p:sp>
          <p:nvSpPr>
            <p:cNvPr id="41" name="Freeform 4">
              <a:extLst>
                <a:ext uri="{FF2B5EF4-FFF2-40B4-BE49-F238E27FC236}">
                  <a16:creationId xmlns:a16="http://schemas.microsoft.com/office/drawing/2014/main" id="{FFF9FF46-96B2-4E04-AA80-122B1EEF32E1}"/>
                </a:ext>
              </a:extLst>
            </p:cNvPr>
            <p:cNvSpPr/>
            <p:nvPr/>
          </p:nvSpPr>
          <p:spPr>
            <a:xfrm>
              <a:off x="0" y="0"/>
              <a:ext cx="1899754" cy="406400"/>
            </a:xfrm>
            <a:custGeom>
              <a:avLst/>
              <a:gdLst/>
              <a:ahLst/>
              <a:cxnLst/>
              <a:rect l="l" t="t" r="r" b="b"/>
              <a:pathLst>
                <a:path w="1899754" h="406400">
                  <a:moveTo>
                    <a:pt x="1696554" y="0"/>
                  </a:moveTo>
                  <a:cubicBezTo>
                    <a:pt x="1808778" y="0"/>
                    <a:pt x="1899754" y="90976"/>
                    <a:pt x="1899754" y="203200"/>
                  </a:cubicBezTo>
                  <a:cubicBezTo>
                    <a:pt x="1899754" y="315424"/>
                    <a:pt x="1808778" y="406400"/>
                    <a:pt x="16965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2" name="TextBox 5">
              <a:extLst>
                <a:ext uri="{FF2B5EF4-FFF2-40B4-BE49-F238E27FC236}">
                  <a16:creationId xmlns:a16="http://schemas.microsoft.com/office/drawing/2014/main" id="{70E8A226-F471-4421-9237-8B7E8CA4554E}"/>
                </a:ext>
              </a:extLst>
            </p:cNvPr>
            <p:cNvSpPr txBox="1"/>
            <p:nvPr/>
          </p:nvSpPr>
          <p:spPr>
            <a:xfrm>
              <a:off x="0" y="-38100"/>
              <a:ext cx="1899754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832BA695-965E-49DA-9E03-B819836E1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419114" y="2665226"/>
            <a:ext cx="6816591" cy="6064754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>
            <a:off x="1074577" y="845799"/>
            <a:ext cx="499539" cy="503199"/>
          </a:xfrm>
          <a:custGeom>
            <a:avLst/>
            <a:gdLst/>
            <a:ahLst/>
            <a:cxnLst/>
            <a:rect l="l" t="t" r="r" b="b"/>
            <a:pathLst>
              <a:path w="499539" h="50319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4011154">
            <a:off x="14050080" y="1455652"/>
            <a:ext cx="17403374" cy="18180272"/>
            <a:chOff x="0" y="0"/>
            <a:chExt cx="4583605" cy="47882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83605" cy="4788220"/>
            </a:xfrm>
            <a:custGeom>
              <a:avLst/>
              <a:gdLst/>
              <a:ahLst/>
              <a:cxnLst/>
              <a:rect l="l" t="t" r="r" b="b"/>
              <a:pathLst>
                <a:path w="4583605" h="4788220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1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10800000">
            <a:off x="1795032" y="2190779"/>
            <a:ext cx="6064754" cy="3959411"/>
            <a:chOff x="0" y="0"/>
            <a:chExt cx="1523469" cy="10428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3469" cy="1042808"/>
            </a:xfrm>
            <a:custGeom>
              <a:avLst/>
              <a:gdLst/>
              <a:ahLst/>
              <a:cxnLst/>
              <a:rect l="l" t="t" r="r" b="b"/>
              <a:pathLst>
                <a:path w="1523469" h="1042808">
                  <a:moveTo>
                    <a:pt x="68259" y="0"/>
                  </a:moveTo>
                  <a:lnTo>
                    <a:pt x="1455210" y="0"/>
                  </a:lnTo>
                  <a:cubicBezTo>
                    <a:pt x="1473314" y="0"/>
                    <a:pt x="1490675" y="7192"/>
                    <a:pt x="1503476" y="19993"/>
                  </a:cubicBezTo>
                  <a:cubicBezTo>
                    <a:pt x="1516278" y="32794"/>
                    <a:pt x="1523469" y="50155"/>
                    <a:pt x="1523469" y="68259"/>
                  </a:cubicBezTo>
                  <a:lnTo>
                    <a:pt x="1523469" y="974549"/>
                  </a:lnTo>
                  <a:cubicBezTo>
                    <a:pt x="1523469" y="1012247"/>
                    <a:pt x="1492908" y="1042808"/>
                    <a:pt x="1455210" y="1042808"/>
                  </a:cubicBezTo>
                  <a:lnTo>
                    <a:pt x="68259" y="1042808"/>
                  </a:lnTo>
                  <a:cubicBezTo>
                    <a:pt x="50155" y="1042808"/>
                    <a:pt x="32794" y="1035616"/>
                    <a:pt x="19993" y="1022815"/>
                  </a:cubicBezTo>
                  <a:cubicBezTo>
                    <a:pt x="7192" y="1010014"/>
                    <a:pt x="0" y="992652"/>
                    <a:pt x="0" y="974549"/>
                  </a:cubicBezTo>
                  <a:lnTo>
                    <a:pt x="0" y="68259"/>
                  </a:lnTo>
                  <a:cubicBezTo>
                    <a:pt x="0" y="30561"/>
                    <a:pt x="30561" y="0"/>
                    <a:pt x="6825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57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1523469" cy="1023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220953" y="2501359"/>
            <a:ext cx="9381245" cy="1040152"/>
            <a:chOff x="0" y="0"/>
            <a:chExt cx="1417549" cy="18396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17549" cy="183966"/>
            </a:xfrm>
            <a:custGeom>
              <a:avLst/>
              <a:gdLst/>
              <a:ahLst/>
              <a:cxnLst/>
              <a:rect l="l" t="t" r="r" b="b"/>
              <a:pathLst>
                <a:path w="1417549" h="183966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266192" y="4007188"/>
            <a:ext cx="9336007" cy="1033886"/>
            <a:chOff x="0" y="0"/>
            <a:chExt cx="1417549" cy="1839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17549" cy="183966"/>
            </a:xfrm>
            <a:custGeom>
              <a:avLst/>
              <a:gdLst/>
              <a:ahLst/>
              <a:cxnLst/>
              <a:rect l="l" t="t" r="r" b="b"/>
              <a:pathLst>
                <a:path w="1417549" h="183966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247142" y="5579717"/>
            <a:ext cx="9355057" cy="1033886"/>
            <a:chOff x="0" y="0"/>
            <a:chExt cx="1417549" cy="1839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17549" cy="183966"/>
            </a:xfrm>
            <a:custGeom>
              <a:avLst/>
              <a:gdLst/>
              <a:ahLst/>
              <a:cxnLst/>
              <a:rect l="l" t="t" r="r" b="b"/>
              <a:pathLst>
                <a:path w="1417549" h="183966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228818" y="7268698"/>
            <a:ext cx="9355057" cy="1033885"/>
            <a:chOff x="0" y="0"/>
            <a:chExt cx="1417549" cy="18396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17549" cy="183966"/>
            </a:xfrm>
            <a:custGeom>
              <a:avLst/>
              <a:gdLst/>
              <a:ahLst/>
              <a:cxnLst/>
              <a:rect l="l" t="t" r="r" b="b"/>
              <a:pathLst>
                <a:path w="1417549" h="183966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795032" y="930452"/>
            <a:ext cx="1302079" cy="31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576" b="1" spc="-4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NovaX</a:t>
            </a:r>
            <a:endParaRPr lang="en-US" sz="2576" b="1" spc="-4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458200" y="2913348"/>
            <a:ext cx="9237200" cy="254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2400" b="1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Simon </a:t>
            </a:r>
            <a:r>
              <a:rPr lang="en-US" sz="2400" b="1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Jaques</a:t>
            </a:r>
            <a:r>
              <a:rPr lang="en-US" sz="2400" b="1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rial MT Pro 8"/>
                <a:ea typeface="Arial MT Pro"/>
                <a:cs typeface="Arial MT Pro"/>
                <a:sym typeface="Arial MT Pro"/>
              </a:rPr>
              <a:t>Mascarenhas</a:t>
            </a:r>
            <a:r>
              <a:rPr lang="en-US" sz="2400" b="1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J      210425106222     ECE 2</a:t>
            </a:r>
            <a:r>
              <a:rPr lang="en-US" sz="2400" b="1" baseline="30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nd</a:t>
            </a:r>
            <a:r>
              <a:rPr lang="en-US" sz="2400" b="1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yr</a:t>
            </a:r>
            <a:r>
              <a:rPr lang="en-US" sz="2400" b="1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58200" y="4448939"/>
            <a:ext cx="8858903" cy="257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2400" b="1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Manickavel</a:t>
            </a:r>
            <a:r>
              <a:rPr lang="en-US" sz="2400" b="1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C                                 210425106117     ECE 2</a:t>
            </a:r>
            <a:r>
              <a:rPr lang="en-US" sz="2400" b="1" baseline="30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nd</a:t>
            </a:r>
            <a:r>
              <a:rPr lang="en-US" sz="2400" b="1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yr</a:t>
            </a:r>
            <a:endParaRPr lang="en-US" sz="2400" b="1" dirty="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135283" y="2832065"/>
            <a:ext cx="4238502" cy="169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6"/>
              </a:lnSpc>
            </a:pPr>
            <a:r>
              <a:rPr lang="en-US" sz="7280" b="1" spc="-116" dirty="0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Team Details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63751" y="6065612"/>
            <a:ext cx="9009799" cy="257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2400" b="1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Dhinesh</a:t>
            </a:r>
            <a:r>
              <a:rPr lang="en-US" sz="2400" b="1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Karthick                           210425106049      ECE 2</a:t>
            </a:r>
            <a:r>
              <a:rPr lang="en-US" sz="2400" b="1" baseline="30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nd</a:t>
            </a:r>
            <a:r>
              <a:rPr lang="en-US" sz="2400" b="1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yr</a:t>
            </a:r>
            <a:endParaRPr lang="en-US" sz="2400" b="1" dirty="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8458200" y="7710449"/>
            <a:ext cx="9081850" cy="257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93"/>
              </a:lnSpc>
            </a:pPr>
            <a:r>
              <a:rPr lang="en-US" sz="2400" b="1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Easwarnath</a:t>
            </a:r>
            <a:r>
              <a:rPr lang="en-US" sz="2400" b="1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Jeyaram</a:t>
            </a:r>
            <a:r>
              <a:rPr lang="en-US" sz="2400" b="1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K                  210425106050      ECE 2</a:t>
            </a:r>
            <a:r>
              <a:rPr lang="en-US" sz="2400" b="1" baseline="30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nd</a:t>
            </a:r>
            <a:r>
              <a:rPr lang="en-US" sz="2400" b="1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yr</a:t>
            </a:r>
            <a:r>
              <a:rPr lang="en-US" sz="24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963C6E5-D64C-438A-BF64-F0C9B8B39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8200" y="338970"/>
            <a:ext cx="1883827" cy="12863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21BD151-10E7-469D-A06B-3789C5C50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64" y="129480"/>
            <a:ext cx="18191636" cy="1015752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32462" y="139005"/>
            <a:ext cx="9457763" cy="10287000"/>
            <a:chOff x="0" y="0"/>
            <a:chExt cx="249093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90933" cy="2709333"/>
            </a:xfrm>
            <a:custGeom>
              <a:avLst/>
              <a:gdLst/>
              <a:ahLst/>
              <a:cxnLst/>
              <a:rect l="l" t="t" r="r" b="b"/>
              <a:pathLst>
                <a:path w="2490933" h="2709333">
                  <a:moveTo>
                    <a:pt x="0" y="0"/>
                  </a:moveTo>
                  <a:lnTo>
                    <a:pt x="2490933" y="0"/>
                  </a:lnTo>
                  <a:lnTo>
                    <a:pt x="2490933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2490933" cy="2690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74577" y="845799"/>
            <a:ext cx="499539" cy="503199"/>
          </a:xfrm>
          <a:custGeom>
            <a:avLst/>
            <a:gdLst/>
            <a:ahLst/>
            <a:cxnLst/>
            <a:rect l="l" t="t" r="r" b="b"/>
            <a:pathLst>
              <a:path w="499539" h="50319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95032" y="930452"/>
            <a:ext cx="1302079" cy="31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576" b="1" spc="-4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NovaX</a:t>
            </a:r>
            <a:endParaRPr lang="en-US" sz="2576" b="1" spc="-4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74577" y="2025488"/>
            <a:ext cx="10313407" cy="1031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5"/>
              </a:lnSpc>
            </a:pPr>
            <a:r>
              <a:rPr lang="en-US" sz="8015" b="1" spc="-128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statement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4577" y="3771900"/>
            <a:ext cx="8229600" cy="32367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Oil spills cause serious damage to </a:t>
            </a:r>
            <a:r>
              <a:rPr lang="en-US" sz="2400" b="1" dirty="0">
                <a:solidFill>
                  <a:schemeClr val="bg1"/>
                </a:solidFill>
              </a:rPr>
              <a:t>marine ecosystems, fisheries, and coastal regions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</a:p>
          <a:p>
            <a:r>
              <a:rPr lang="en-US" sz="2400" dirty="0">
                <a:solidFill>
                  <a:schemeClr val="bg1"/>
                </a:solidFill>
              </a:rPr>
              <a:t>Vast ocean areas make </a:t>
            </a:r>
            <a:r>
              <a:rPr lang="en-US" sz="2400" b="1" dirty="0">
                <a:solidFill>
                  <a:schemeClr val="bg1"/>
                </a:solidFill>
              </a:rPr>
              <a:t>rapid and continuous detection</a:t>
            </a:r>
            <a:r>
              <a:rPr lang="en-US" sz="2400" dirty="0">
                <a:solidFill>
                  <a:schemeClr val="bg1"/>
                </a:solidFill>
              </a:rPr>
              <a:t> difficult. </a:t>
            </a:r>
          </a:p>
          <a:p>
            <a:r>
              <a:rPr lang="en-US" sz="2400" dirty="0">
                <a:solidFill>
                  <a:schemeClr val="bg1"/>
                </a:solidFill>
              </a:rPr>
              <a:t>Identifying the </a:t>
            </a:r>
            <a:r>
              <a:rPr lang="en-US" sz="2400" b="1" dirty="0">
                <a:solidFill>
                  <a:schemeClr val="bg1"/>
                </a:solidFill>
              </a:rPr>
              <a:t>spill source and responsible vessel</a:t>
            </a:r>
            <a:r>
              <a:rPr lang="en-US" sz="2400" dirty="0">
                <a:solidFill>
                  <a:schemeClr val="bg1"/>
                </a:solidFill>
              </a:rPr>
              <a:t> is challenging. </a:t>
            </a:r>
          </a:p>
          <a:p>
            <a:r>
              <a:rPr lang="en-US" sz="2400" dirty="0">
                <a:solidFill>
                  <a:schemeClr val="bg1"/>
                </a:solidFill>
              </a:rPr>
              <a:t>Ocean currents and weather conditions make </a:t>
            </a:r>
            <a:r>
              <a:rPr lang="en-US" sz="2400" b="1" dirty="0">
                <a:solidFill>
                  <a:schemeClr val="bg1"/>
                </a:solidFill>
              </a:rPr>
              <a:t>spill movement unpredictable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</a:p>
          <a:p>
            <a:r>
              <a:rPr lang="en-US" sz="2400" dirty="0">
                <a:solidFill>
                  <a:schemeClr val="bg1"/>
                </a:solidFill>
              </a:rPr>
              <a:t>Delayed detection can lead to </a:t>
            </a:r>
            <a:r>
              <a:rPr lang="en-US" sz="2400" b="1" dirty="0">
                <a:solidFill>
                  <a:schemeClr val="bg1"/>
                </a:solidFill>
              </a:rPr>
              <a:t>greater environmental and economic damage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</a:p>
          <a:p>
            <a:pPr algn="just">
              <a:lnSpc>
                <a:spcPts val="2206"/>
              </a:lnSpc>
              <a:spcBef>
                <a:spcPct val="0"/>
              </a:spcBef>
            </a:pPr>
            <a:endParaRPr lang="en-US" sz="2000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grpSp>
        <p:nvGrpSpPr>
          <p:cNvPr id="16" name="Group 16"/>
          <p:cNvGrpSpPr/>
          <p:nvPr/>
        </p:nvGrpSpPr>
        <p:grpSpPr>
          <a:xfrm rot="-4011154">
            <a:off x="12755358" y="3032614"/>
            <a:ext cx="17403374" cy="15009081"/>
            <a:chOff x="0" y="0"/>
            <a:chExt cx="4583605" cy="395300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83605" cy="3953009"/>
            </a:xfrm>
            <a:custGeom>
              <a:avLst/>
              <a:gdLst/>
              <a:ahLst/>
              <a:cxnLst/>
              <a:rect l="l" t="t" r="r" b="b"/>
              <a:pathLst>
                <a:path w="4583605" h="3953009">
                  <a:moveTo>
                    <a:pt x="0" y="0"/>
                  </a:moveTo>
                  <a:lnTo>
                    <a:pt x="4583605" y="0"/>
                  </a:lnTo>
                  <a:lnTo>
                    <a:pt x="4583605" y="3953009"/>
                  </a:lnTo>
                  <a:lnTo>
                    <a:pt x="0" y="3953009"/>
                  </a:lnTo>
                  <a:close/>
                </a:path>
              </a:pathLst>
            </a:custGeom>
            <a:gradFill rotWithShape="1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4583605" cy="3933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D7EA4691-FABB-4DC1-A7FB-468D7DD4A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8986" y="498778"/>
            <a:ext cx="1883827" cy="12863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577" y="845799"/>
            <a:ext cx="499539" cy="503199"/>
          </a:xfrm>
          <a:custGeom>
            <a:avLst/>
            <a:gdLst/>
            <a:ahLst/>
            <a:cxnLst/>
            <a:rect l="l" t="t" r="r" b="b"/>
            <a:pathLst>
              <a:path w="499539" h="50319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054482" y="5598730"/>
            <a:ext cx="7089518" cy="3606114"/>
            <a:chOff x="0" y="0"/>
            <a:chExt cx="1867198" cy="871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7198" cy="871690"/>
            </a:xfrm>
            <a:custGeom>
              <a:avLst/>
              <a:gdLst/>
              <a:ahLst/>
              <a:cxnLst/>
              <a:rect l="l" t="t" r="r" b="b"/>
              <a:pathLst>
                <a:path w="1867198" h="871690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39464" y="7136779"/>
            <a:ext cx="7089517" cy="1771650"/>
            <a:chOff x="0" y="0"/>
            <a:chExt cx="1733800" cy="4666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33801" cy="466607"/>
            </a:xfrm>
            <a:custGeom>
              <a:avLst/>
              <a:gdLst/>
              <a:ahLst/>
              <a:cxnLst/>
              <a:rect l="l" t="t" r="r" b="b"/>
              <a:pathLst>
                <a:path w="1733801" h="466607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1733800" cy="447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739827" y="2227708"/>
            <a:ext cx="6583024" cy="4486539"/>
            <a:chOff x="0" y="0"/>
            <a:chExt cx="1733800" cy="11892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33801" cy="1189231"/>
            </a:xfrm>
            <a:custGeom>
              <a:avLst/>
              <a:gdLst/>
              <a:ahLst/>
              <a:cxnLst/>
              <a:rect l="l" t="t" r="r" b="b"/>
              <a:pathLst>
                <a:path w="1733801" h="118923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144541"/>
                  </a:lnTo>
                  <a:cubicBezTo>
                    <a:pt x="1733801" y="1156394"/>
                    <a:pt x="1729092" y="1167761"/>
                    <a:pt x="1720711" y="1176141"/>
                  </a:cubicBezTo>
                  <a:cubicBezTo>
                    <a:pt x="1712330" y="1184522"/>
                    <a:pt x="1700963" y="1189231"/>
                    <a:pt x="1689111" y="1189231"/>
                  </a:cubicBezTo>
                  <a:lnTo>
                    <a:pt x="44690" y="1189231"/>
                  </a:lnTo>
                  <a:cubicBezTo>
                    <a:pt x="32837" y="1189231"/>
                    <a:pt x="21470" y="1184522"/>
                    <a:pt x="13089" y="1176141"/>
                  </a:cubicBezTo>
                  <a:cubicBezTo>
                    <a:pt x="4708" y="1167761"/>
                    <a:pt x="0" y="1156394"/>
                    <a:pt x="0" y="114454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1733800" cy="1170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77907" y="5719703"/>
            <a:ext cx="675884" cy="67588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432746" y="2379480"/>
            <a:ext cx="675884" cy="67588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5526051" y="2502370"/>
            <a:ext cx="489274" cy="455359"/>
          </a:xfrm>
          <a:custGeom>
            <a:avLst/>
            <a:gdLst/>
            <a:ahLst/>
            <a:cxnLst/>
            <a:rect l="l" t="t" r="r" b="b"/>
            <a:pathLst>
              <a:path w="489274" h="455359">
                <a:moveTo>
                  <a:pt x="0" y="0"/>
                </a:moveTo>
                <a:lnTo>
                  <a:pt x="489274" y="0"/>
                </a:lnTo>
                <a:lnTo>
                  <a:pt x="489274" y="455359"/>
                </a:lnTo>
                <a:lnTo>
                  <a:pt x="0" y="455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4694079" y="7524026"/>
            <a:ext cx="1806512" cy="1383648"/>
          </a:xfrm>
          <a:custGeom>
            <a:avLst/>
            <a:gdLst/>
            <a:ahLst/>
            <a:cxnLst/>
            <a:rect l="l" t="t" r="r" b="b"/>
            <a:pathLst>
              <a:path w="1806512" h="1383648">
                <a:moveTo>
                  <a:pt x="0" y="0"/>
                </a:moveTo>
                <a:lnTo>
                  <a:pt x="1806512" y="0"/>
                </a:lnTo>
                <a:lnTo>
                  <a:pt x="1806512" y="1383648"/>
                </a:lnTo>
                <a:lnTo>
                  <a:pt x="0" y="13836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b="-35488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795032" y="930452"/>
            <a:ext cx="1302079" cy="31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576" b="1" spc="-4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NovaX</a:t>
            </a:r>
            <a:endParaRPr lang="en-US" sz="2576" b="1" spc="-4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63881" y="1820409"/>
            <a:ext cx="9070718" cy="973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53"/>
              </a:lnSpc>
            </a:pPr>
            <a:r>
              <a:rPr lang="en-US" sz="7166" b="1" spc="-300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Proposed solution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39827" y="7474118"/>
            <a:ext cx="5517503" cy="1134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64"/>
              </a:lnSpc>
            </a:pPr>
            <a:r>
              <a:rPr lang="en-US" sz="3200" b="1" dirty="0">
                <a:solidFill>
                  <a:schemeClr val="bg1"/>
                </a:solidFill>
              </a:rPr>
              <a:t>Satellite + AI + AIS + GIS + Ocean/Weather Intelligence → Actionable Oil-Spill Intelligence</a:t>
            </a:r>
            <a:endParaRPr lang="en-US" sz="2800" b="1" spc="-115" dirty="0">
              <a:solidFill>
                <a:schemeClr val="bg1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392416" y="5671061"/>
            <a:ext cx="5708731" cy="360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Predict</a:t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Ocean currents + weather data to predict spill drift &amp; affected areas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Assess</a:t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Estimate spill severity, environmental impact &amp; risk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Respond</a:t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Agentic AI combines all evidence to generate alerts, insights &amp; recommended actions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endParaRPr lang="en-US" sz="2000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032272" y="2656023"/>
            <a:ext cx="5337109" cy="3598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Detect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AI-based oil-spill detection from </a:t>
            </a:r>
            <a:r>
              <a:rPr lang="en-IN" sz="2400" b="1" dirty="0">
                <a:solidFill>
                  <a:schemeClr val="bg1"/>
                </a:solidFill>
              </a:rPr>
              <a:t>SAR satellite imagery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Map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GIS-based </a:t>
            </a:r>
            <a:r>
              <a:rPr lang="en-IN" sz="2400" b="1" dirty="0">
                <a:solidFill>
                  <a:schemeClr val="bg1"/>
                </a:solidFill>
              </a:rPr>
              <a:t>spill location, extent &amp; confidence mapping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Trace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AIS data to identify </a:t>
            </a:r>
            <a:r>
              <a:rPr lang="en-IN" sz="2400" b="1" dirty="0">
                <a:solidFill>
                  <a:schemeClr val="bg1"/>
                </a:solidFill>
              </a:rPr>
              <a:t>nearby vessels &amp; potential spill sources</a:t>
            </a:r>
            <a:endParaRPr lang="en-IN" sz="2400" dirty="0">
              <a:solidFill>
                <a:schemeClr val="bg1"/>
              </a:solidFill>
            </a:endParaRP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2000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264E596-D976-4BA5-AD97-1E98EF5B40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54400" y="246628"/>
            <a:ext cx="1883827" cy="1286367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654478B1-887F-4755-BDAF-E7B402586664}"/>
              </a:ext>
            </a:extLst>
          </p:cNvPr>
          <p:cNvSpPr/>
          <p:nvPr/>
        </p:nvSpPr>
        <p:spPr>
          <a:xfrm>
            <a:off x="991193" y="3172592"/>
            <a:ext cx="9144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An AI-powered end-to-end system for detecting, analyzing, tracing, and predicting marine oil spills.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37" name="Freeform 22">
            <a:extLst>
              <a:ext uri="{FF2B5EF4-FFF2-40B4-BE49-F238E27FC236}">
                <a16:creationId xmlns:a16="http://schemas.microsoft.com/office/drawing/2014/main" id="{70B58958-9652-4BB9-8A31-994B8DC2F373}"/>
              </a:ext>
            </a:extLst>
          </p:cNvPr>
          <p:cNvSpPr/>
          <p:nvPr/>
        </p:nvSpPr>
        <p:spPr>
          <a:xfrm>
            <a:off x="8371212" y="5829965"/>
            <a:ext cx="489274" cy="455359"/>
          </a:xfrm>
          <a:custGeom>
            <a:avLst/>
            <a:gdLst/>
            <a:ahLst/>
            <a:cxnLst/>
            <a:rect l="l" t="t" r="r" b="b"/>
            <a:pathLst>
              <a:path w="489274" h="455359">
                <a:moveTo>
                  <a:pt x="0" y="0"/>
                </a:moveTo>
                <a:lnTo>
                  <a:pt x="489274" y="0"/>
                </a:lnTo>
                <a:lnTo>
                  <a:pt x="489274" y="455359"/>
                </a:lnTo>
                <a:lnTo>
                  <a:pt x="0" y="455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>
            <a:extLst>
              <a:ext uri="{FF2B5EF4-FFF2-40B4-BE49-F238E27FC236}">
                <a16:creationId xmlns:a16="http://schemas.microsoft.com/office/drawing/2014/main" id="{47A7098F-3DD3-4A02-9A05-D53AC8B6A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0800"/>
            <a:ext cx="18288000" cy="10287000"/>
          </a:xfrm>
          <a:prstGeom prst="rect">
            <a:avLst/>
          </a:prstGeom>
        </p:spPr>
      </p:pic>
      <p:grpSp>
        <p:nvGrpSpPr>
          <p:cNvPr id="66" name="Group 3">
            <a:extLst>
              <a:ext uri="{FF2B5EF4-FFF2-40B4-BE49-F238E27FC236}">
                <a16:creationId xmlns:a16="http://schemas.microsoft.com/office/drawing/2014/main" id="{1710D1BC-3650-49FA-88EB-C3469E3AE8ED}"/>
              </a:ext>
            </a:extLst>
          </p:cNvPr>
          <p:cNvGrpSpPr/>
          <p:nvPr/>
        </p:nvGrpSpPr>
        <p:grpSpPr>
          <a:xfrm>
            <a:off x="-66613" y="-126100"/>
            <a:ext cx="9457763" cy="10287000"/>
            <a:chOff x="0" y="0"/>
            <a:chExt cx="2490933" cy="2709333"/>
          </a:xfrm>
        </p:grpSpPr>
        <p:sp>
          <p:nvSpPr>
            <p:cNvPr id="67" name="Freeform 4">
              <a:extLst>
                <a:ext uri="{FF2B5EF4-FFF2-40B4-BE49-F238E27FC236}">
                  <a16:creationId xmlns:a16="http://schemas.microsoft.com/office/drawing/2014/main" id="{CCC5F309-34C8-4E6F-A691-64A251B1C03B}"/>
                </a:ext>
              </a:extLst>
            </p:cNvPr>
            <p:cNvSpPr/>
            <p:nvPr/>
          </p:nvSpPr>
          <p:spPr>
            <a:xfrm>
              <a:off x="0" y="0"/>
              <a:ext cx="2490933" cy="2709333"/>
            </a:xfrm>
            <a:custGeom>
              <a:avLst/>
              <a:gdLst/>
              <a:ahLst/>
              <a:cxnLst/>
              <a:rect l="l" t="t" r="r" b="b"/>
              <a:pathLst>
                <a:path w="2490933" h="2709333">
                  <a:moveTo>
                    <a:pt x="0" y="0"/>
                  </a:moveTo>
                  <a:lnTo>
                    <a:pt x="2490933" y="0"/>
                  </a:lnTo>
                  <a:lnTo>
                    <a:pt x="2490933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id="68" name="TextBox 5">
              <a:extLst>
                <a:ext uri="{FF2B5EF4-FFF2-40B4-BE49-F238E27FC236}">
                  <a16:creationId xmlns:a16="http://schemas.microsoft.com/office/drawing/2014/main" id="{EE3544A3-86AE-44CA-BE7F-8C7BBEAE76C3}"/>
                </a:ext>
              </a:extLst>
            </p:cNvPr>
            <p:cNvSpPr txBox="1"/>
            <p:nvPr/>
          </p:nvSpPr>
          <p:spPr>
            <a:xfrm>
              <a:off x="0" y="19050"/>
              <a:ext cx="2490933" cy="2690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3" name="Rounded Rectangle 2"/>
          <p:cNvSpPr/>
          <p:nvPr/>
        </p:nvSpPr>
        <p:spPr>
          <a:xfrm>
            <a:off x="8785846" y="3675065"/>
            <a:ext cx="712334" cy="704370"/>
          </a:xfrm>
          <a:custGeom>
            <a:avLst/>
            <a:gdLst/>
            <a:ahLst/>
            <a:cxnLst/>
            <a:rect l="0" t="0" r="0" b="0"/>
            <a:pathLst>
              <a:path w="474889" h="469580">
                <a:moveTo>
                  <a:pt x="237440" y="0"/>
                </a:moveTo>
                <a:cubicBezTo>
                  <a:pt x="368581" y="0"/>
                  <a:pt x="474889" y="105122"/>
                  <a:pt x="474889" y="234790"/>
                </a:cubicBezTo>
                <a:cubicBezTo>
                  <a:pt x="474889" y="364458"/>
                  <a:pt x="368581" y="469580"/>
                  <a:pt x="237440" y="469580"/>
                </a:cubicBezTo>
                <a:cubicBezTo>
                  <a:pt x="106308" y="469580"/>
                  <a:pt x="0" y="364458"/>
                  <a:pt x="0" y="234790"/>
                </a:cubicBezTo>
                <a:cubicBezTo>
                  <a:pt x="0" y="105122"/>
                  <a:pt x="106308" y="0"/>
                  <a:pt x="237440" y="0"/>
                </a:cubicBezTo>
              </a:path>
            </a:pathLst>
          </a:custGeom>
          <a:solidFill>
            <a:srgbClr val="7E56FF">
              <a:alpha val="7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4" name="Rounded Rectangle 3"/>
          <p:cNvSpPr/>
          <p:nvPr/>
        </p:nvSpPr>
        <p:spPr>
          <a:xfrm>
            <a:off x="8785845" y="3675065"/>
            <a:ext cx="712329" cy="704370"/>
          </a:xfrm>
          <a:custGeom>
            <a:avLst/>
            <a:gdLst/>
            <a:ahLst/>
            <a:cxnLst/>
            <a:rect l="0" t="0" r="0" b="0"/>
            <a:pathLst>
              <a:path w="474886" h="469580">
                <a:moveTo>
                  <a:pt x="474886" y="234790"/>
                </a:moveTo>
                <a:cubicBezTo>
                  <a:pt x="474886" y="364461"/>
                  <a:pt x="368579" y="469580"/>
                  <a:pt x="237443" y="469580"/>
                </a:cubicBezTo>
                <a:cubicBezTo>
                  <a:pt x="106306" y="469580"/>
                  <a:pt x="0" y="364461"/>
                  <a:pt x="0" y="234790"/>
                </a:cubicBezTo>
                <a:cubicBezTo>
                  <a:pt x="0" y="105119"/>
                  <a:pt x="106306" y="0"/>
                  <a:pt x="237443" y="0"/>
                </a:cubicBezTo>
                <a:cubicBezTo>
                  <a:pt x="368579" y="0"/>
                  <a:pt x="474886" y="105119"/>
                  <a:pt x="474886" y="234790"/>
                </a:cubicBezTo>
                <a:close/>
                <a:moveTo>
                  <a:pt x="469103" y="183056"/>
                </a:moveTo>
                <a:cubicBezTo>
                  <a:pt x="472218" y="198229"/>
                  <a:pt x="474886" y="218709"/>
                  <a:pt x="474886" y="234790"/>
                </a:cubicBezTo>
                <a:cubicBezTo>
                  <a:pt x="474886" y="250871"/>
                  <a:pt x="473881" y="263392"/>
                  <a:pt x="470767" y="278564"/>
                </a:cubicBezTo>
              </a:path>
            </a:pathLst>
          </a:custGeom>
          <a:noFill/>
          <a:ln w="119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5" name="Rounded Rectangle 4"/>
          <p:cNvSpPr/>
          <p:nvPr/>
        </p:nvSpPr>
        <p:spPr>
          <a:xfrm>
            <a:off x="6780179" y="4677899"/>
            <a:ext cx="2136989" cy="716309"/>
          </a:xfrm>
          <a:custGeom>
            <a:avLst/>
            <a:gdLst/>
            <a:ahLst/>
            <a:cxnLst/>
            <a:rect l="0" t="0" r="0" b="0"/>
            <a:pathLst>
              <a:path w="1424659" h="477539">
                <a:moveTo>
                  <a:pt x="238769" y="0"/>
                </a:moveTo>
                <a:cubicBezTo>
                  <a:pt x="370642" y="0"/>
                  <a:pt x="477539" y="106897"/>
                  <a:pt x="477539" y="238769"/>
                </a:cubicBezTo>
                <a:cubicBezTo>
                  <a:pt x="477539" y="370642"/>
                  <a:pt x="370642" y="477539"/>
                  <a:pt x="238769" y="477539"/>
                </a:cubicBezTo>
                <a:cubicBezTo>
                  <a:pt x="106897" y="477539"/>
                  <a:pt x="0" y="370642"/>
                  <a:pt x="0" y="238769"/>
                </a:cubicBezTo>
                <a:cubicBezTo>
                  <a:pt x="0" y="106897"/>
                  <a:pt x="106897" y="0"/>
                  <a:pt x="238769" y="0"/>
                </a:cubicBezTo>
                <a:moveTo>
                  <a:pt x="474332" y="230810"/>
                </a:moveTo>
                <a:cubicBezTo>
                  <a:pt x="474332" y="247166"/>
                  <a:pt x="472700" y="263132"/>
                  <a:pt x="469580" y="278564"/>
                </a:cubicBezTo>
                <a:lnTo>
                  <a:pt x="1139560" y="278564"/>
                </a:lnTo>
                <a:cubicBezTo>
                  <a:pt x="1244532" y="278564"/>
                  <a:pt x="1329629" y="364084"/>
                  <a:pt x="1329629" y="469580"/>
                </a:cubicBezTo>
                <a:lnTo>
                  <a:pt x="1424659" y="469580"/>
                </a:lnTo>
                <a:cubicBezTo>
                  <a:pt x="1424659" y="311339"/>
                  <a:pt x="1297013" y="183056"/>
                  <a:pt x="1139560" y="183056"/>
                </a:cubicBezTo>
                <a:lnTo>
                  <a:pt x="469580" y="183056"/>
                </a:lnTo>
                <a:cubicBezTo>
                  <a:pt x="472700" y="198489"/>
                  <a:pt x="474332" y="214455"/>
                  <a:pt x="474332" y="230810"/>
                </a:cubicBezTo>
              </a:path>
            </a:pathLst>
          </a:custGeom>
          <a:solidFill>
            <a:srgbClr val="7E56FF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6" name="Rounded Rectangle 5"/>
          <p:cNvSpPr/>
          <p:nvPr/>
        </p:nvSpPr>
        <p:spPr>
          <a:xfrm>
            <a:off x="6780179" y="4677899"/>
            <a:ext cx="2136989" cy="704370"/>
          </a:xfrm>
          <a:custGeom>
            <a:avLst/>
            <a:gdLst/>
            <a:ahLst/>
            <a:cxnLst/>
            <a:rect l="0" t="0" r="0" b="0"/>
            <a:pathLst>
              <a:path w="1424659" h="469580">
                <a:moveTo>
                  <a:pt x="474886" y="234790"/>
                </a:moveTo>
                <a:cubicBezTo>
                  <a:pt x="474886" y="364461"/>
                  <a:pt x="368579" y="469580"/>
                  <a:pt x="237443" y="469580"/>
                </a:cubicBezTo>
                <a:cubicBezTo>
                  <a:pt x="106306" y="469580"/>
                  <a:pt x="0" y="364461"/>
                  <a:pt x="0" y="234790"/>
                </a:cubicBezTo>
                <a:cubicBezTo>
                  <a:pt x="0" y="105119"/>
                  <a:pt x="106306" y="0"/>
                  <a:pt x="237443" y="0"/>
                </a:cubicBezTo>
                <a:cubicBezTo>
                  <a:pt x="368579" y="0"/>
                  <a:pt x="474886" y="105119"/>
                  <a:pt x="474886" y="234790"/>
                </a:cubicBezTo>
                <a:close/>
                <a:moveTo>
                  <a:pt x="1329152" y="469580"/>
                </a:moveTo>
                <a:cubicBezTo>
                  <a:pt x="1329152" y="365843"/>
                  <a:pt x="1243045" y="278564"/>
                  <a:pt x="1138136" y="278564"/>
                </a:cubicBezTo>
                <a:lnTo>
                  <a:pt x="470767" y="278564"/>
                </a:lnTo>
                <a:cubicBezTo>
                  <a:pt x="473881" y="263392"/>
                  <a:pt x="474886" y="250871"/>
                  <a:pt x="474886" y="234790"/>
                </a:cubicBezTo>
                <a:cubicBezTo>
                  <a:pt x="474886" y="218709"/>
                  <a:pt x="472218" y="198229"/>
                  <a:pt x="469103" y="183056"/>
                </a:cubicBezTo>
                <a:lnTo>
                  <a:pt x="1138136" y="183056"/>
                </a:lnTo>
                <a:cubicBezTo>
                  <a:pt x="1295499" y="183056"/>
                  <a:pt x="1424659" y="313975"/>
                  <a:pt x="1424659" y="469580"/>
                </a:cubicBezTo>
              </a:path>
            </a:pathLst>
          </a:custGeom>
          <a:noFill/>
          <a:ln w="119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7" name="Rounded Rectangle 6"/>
          <p:cNvSpPr/>
          <p:nvPr/>
        </p:nvSpPr>
        <p:spPr>
          <a:xfrm>
            <a:off x="6768241" y="5955317"/>
            <a:ext cx="1862405" cy="716309"/>
          </a:xfrm>
          <a:custGeom>
            <a:avLst/>
            <a:gdLst/>
            <a:ahLst/>
            <a:cxnLst/>
            <a:rect l="0" t="0" r="0" b="0"/>
            <a:pathLst>
              <a:path w="1241603" h="477539">
                <a:moveTo>
                  <a:pt x="238769" y="0"/>
                </a:moveTo>
                <a:cubicBezTo>
                  <a:pt x="370642" y="0"/>
                  <a:pt x="477539" y="106897"/>
                  <a:pt x="477539" y="238769"/>
                </a:cubicBezTo>
                <a:cubicBezTo>
                  <a:pt x="477539" y="370642"/>
                  <a:pt x="370642" y="477539"/>
                  <a:pt x="238769" y="477539"/>
                </a:cubicBezTo>
                <a:cubicBezTo>
                  <a:pt x="106897" y="477539"/>
                  <a:pt x="0" y="370642"/>
                  <a:pt x="0" y="238769"/>
                </a:cubicBezTo>
                <a:cubicBezTo>
                  <a:pt x="0" y="106897"/>
                  <a:pt x="106897" y="0"/>
                  <a:pt x="238769" y="0"/>
                </a:cubicBezTo>
                <a:moveTo>
                  <a:pt x="482291" y="232139"/>
                </a:moveTo>
                <a:cubicBezTo>
                  <a:pt x="482291" y="248941"/>
                  <a:pt x="480659" y="265360"/>
                  <a:pt x="477539" y="281215"/>
                </a:cubicBezTo>
                <a:lnTo>
                  <a:pt x="956503" y="281215"/>
                </a:lnTo>
                <a:cubicBezTo>
                  <a:pt x="1061475" y="281215"/>
                  <a:pt x="1146572" y="369114"/>
                  <a:pt x="1146572" y="477539"/>
                </a:cubicBezTo>
                <a:lnTo>
                  <a:pt x="1241603" y="477539"/>
                </a:lnTo>
                <a:cubicBezTo>
                  <a:pt x="1241603" y="314897"/>
                  <a:pt x="1113956" y="183056"/>
                  <a:pt x="956503" y="183056"/>
                </a:cubicBezTo>
                <a:lnTo>
                  <a:pt x="477539" y="183056"/>
                </a:lnTo>
                <a:cubicBezTo>
                  <a:pt x="480659" y="198919"/>
                  <a:pt x="482291" y="215330"/>
                  <a:pt x="482291" y="232139"/>
                </a:cubicBezTo>
              </a:path>
            </a:pathLst>
          </a:custGeom>
          <a:solidFill>
            <a:srgbClr val="7E56FF">
              <a:alpha val="4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8" name="Rounded Rectangle 7"/>
          <p:cNvSpPr/>
          <p:nvPr/>
        </p:nvSpPr>
        <p:spPr>
          <a:xfrm>
            <a:off x="6768241" y="5955317"/>
            <a:ext cx="1862405" cy="716309"/>
          </a:xfrm>
          <a:custGeom>
            <a:avLst/>
            <a:gdLst/>
            <a:ahLst/>
            <a:cxnLst/>
            <a:rect l="0" t="0" r="0" b="0"/>
            <a:pathLst>
              <a:path w="1241603" h="477539">
                <a:moveTo>
                  <a:pt x="477950" y="234790"/>
                </a:moveTo>
                <a:cubicBezTo>
                  <a:pt x="477950" y="364461"/>
                  <a:pt x="370957" y="469580"/>
                  <a:pt x="238975" y="469580"/>
                </a:cubicBezTo>
                <a:cubicBezTo>
                  <a:pt x="106992" y="469580"/>
                  <a:pt x="0" y="364461"/>
                  <a:pt x="0" y="234790"/>
                </a:cubicBezTo>
                <a:cubicBezTo>
                  <a:pt x="0" y="105119"/>
                  <a:pt x="106992" y="0"/>
                  <a:pt x="238975" y="0"/>
                </a:cubicBezTo>
                <a:cubicBezTo>
                  <a:pt x="370957" y="0"/>
                  <a:pt x="477950" y="105119"/>
                  <a:pt x="477950" y="234790"/>
                </a:cubicBezTo>
                <a:close/>
                <a:moveTo>
                  <a:pt x="1145479" y="477539"/>
                </a:moveTo>
                <a:cubicBezTo>
                  <a:pt x="1145479" y="373802"/>
                  <a:pt x="1058816" y="278564"/>
                  <a:pt x="953230" y="278564"/>
                </a:cubicBezTo>
                <a:lnTo>
                  <a:pt x="473804" y="278564"/>
                </a:lnTo>
                <a:cubicBezTo>
                  <a:pt x="476939" y="263392"/>
                  <a:pt x="477950" y="250871"/>
                  <a:pt x="477950" y="234790"/>
                </a:cubicBezTo>
                <a:cubicBezTo>
                  <a:pt x="477950" y="218709"/>
                  <a:pt x="475264" y="198229"/>
                  <a:pt x="472130" y="183056"/>
                </a:cubicBezTo>
                <a:lnTo>
                  <a:pt x="953230" y="183056"/>
                </a:lnTo>
                <a:cubicBezTo>
                  <a:pt x="1111609" y="183056"/>
                  <a:pt x="1241603" y="321934"/>
                  <a:pt x="1241603" y="477539"/>
                </a:cubicBezTo>
              </a:path>
            </a:pathLst>
          </a:custGeom>
          <a:noFill/>
          <a:ln w="119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9" name="Rounded Rectangle 8"/>
          <p:cNvSpPr/>
          <p:nvPr/>
        </p:nvSpPr>
        <p:spPr>
          <a:xfrm>
            <a:off x="6780179" y="7256612"/>
            <a:ext cx="1563942" cy="716309"/>
          </a:xfrm>
          <a:custGeom>
            <a:avLst/>
            <a:gdLst/>
            <a:ahLst/>
            <a:cxnLst/>
            <a:rect l="0" t="0" r="0" b="0"/>
            <a:pathLst>
              <a:path w="1042628" h="477539">
                <a:moveTo>
                  <a:pt x="238769" y="0"/>
                </a:moveTo>
                <a:cubicBezTo>
                  <a:pt x="370642" y="0"/>
                  <a:pt x="477539" y="106897"/>
                  <a:pt x="477539" y="238769"/>
                </a:cubicBezTo>
                <a:cubicBezTo>
                  <a:pt x="477539" y="370642"/>
                  <a:pt x="370642" y="477539"/>
                  <a:pt x="238769" y="477539"/>
                </a:cubicBezTo>
                <a:cubicBezTo>
                  <a:pt x="106897" y="477539"/>
                  <a:pt x="0" y="370642"/>
                  <a:pt x="0" y="238769"/>
                </a:cubicBezTo>
                <a:cubicBezTo>
                  <a:pt x="0" y="106897"/>
                  <a:pt x="106897" y="0"/>
                  <a:pt x="238769" y="0"/>
                </a:cubicBezTo>
                <a:moveTo>
                  <a:pt x="474332" y="230810"/>
                </a:moveTo>
                <a:cubicBezTo>
                  <a:pt x="474332" y="247166"/>
                  <a:pt x="472700" y="263132"/>
                  <a:pt x="469580" y="278564"/>
                </a:cubicBezTo>
                <a:lnTo>
                  <a:pt x="757529" y="278564"/>
                </a:lnTo>
                <a:cubicBezTo>
                  <a:pt x="862500" y="278564"/>
                  <a:pt x="947597" y="364084"/>
                  <a:pt x="947597" y="469580"/>
                </a:cubicBezTo>
                <a:lnTo>
                  <a:pt x="1042628" y="469580"/>
                </a:lnTo>
                <a:cubicBezTo>
                  <a:pt x="1042628" y="311339"/>
                  <a:pt x="914989" y="183056"/>
                  <a:pt x="757529" y="183056"/>
                </a:cubicBezTo>
                <a:lnTo>
                  <a:pt x="469580" y="183056"/>
                </a:lnTo>
                <a:cubicBezTo>
                  <a:pt x="472700" y="198489"/>
                  <a:pt x="474332" y="214455"/>
                  <a:pt x="474332" y="230810"/>
                </a:cubicBezTo>
              </a:path>
            </a:pathLst>
          </a:custGeom>
          <a:solidFill>
            <a:srgbClr val="7E56FF">
              <a:alpha val="3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0" name="Rounded Rectangle 9"/>
          <p:cNvSpPr/>
          <p:nvPr/>
        </p:nvSpPr>
        <p:spPr>
          <a:xfrm>
            <a:off x="6780179" y="7256612"/>
            <a:ext cx="1563942" cy="704370"/>
          </a:xfrm>
          <a:custGeom>
            <a:avLst/>
            <a:gdLst/>
            <a:ahLst/>
            <a:cxnLst/>
            <a:rect l="0" t="0" r="0" b="0"/>
            <a:pathLst>
              <a:path w="1042628" h="469580">
                <a:moveTo>
                  <a:pt x="474886" y="234790"/>
                </a:moveTo>
                <a:cubicBezTo>
                  <a:pt x="474886" y="364461"/>
                  <a:pt x="368579" y="469580"/>
                  <a:pt x="237443" y="469580"/>
                </a:cubicBezTo>
                <a:cubicBezTo>
                  <a:pt x="106306" y="469580"/>
                  <a:pt x="0" y="364461"/>
                  <a:pt x="0" y="234790"/>
                </a:cubicBezTo>
                <a:cubicBezTo>
                  <a:pt x="0" y="105119"/>
                  <a:pt x="106306" y="0"/>
                  <a:pt x="237443" y="0"/>
                </a:cubicBezTo>
                <a:cubicBezTo>
                  <a:pt x="368579" y="0"/>
                  <a:pt x="474886" y="105119"/>
                  <a:pt x="474886" y="234790"/>
                </a:cubicBezTo>
                <a:close/>
                <a:moveTo>
                  <a:pt x="947120" y="469580"/>
                </a:moveTo>
                <a:cubicBezTo>
                  <a:pt x="947120" y="365843"/>
                  <a:pt x="861013" y="278564"/>
                  <a:pt x="756104" y="278564"/>
                </a:cubicBezTo>
                <a:lnTo>
                  <a:pt x="470767" y="278564"/>
                </a:lnTo>
                <a:cubicBezTo>
                  <a:pt x="473881" y="263392"/>
                  <a:pt x="474886" y="250871"/>
                  <a:pt x="474886" y="234790"/>
                </a:cubicBezTo>
                <a:cubicBezTo>
                  <a:pt x="474886" y="218709"/>
                  <a:pt x="472218" y="198229"/>
                  <a:pt x="469103" y="183056"/>
                </a:cubicBezTo>
                <a:lnTo>
                  <a:pt x="756104" y="183056"/>
                </a:lnTo>
                <a:cubicBezTo>
                  <a:pt x="913468" y="183056"/>
                  <a:pt x="1042628" y="313975"/>
                  <a:pt x="1042628" y="469580"/>
                </a:cubicBezTo>
              </a:path>
            </a:pathLst>
          </a:custGeom>
          <a:noFill/>
          <a:ln w="119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1" name="Rounded Rectangle 10"/>
          <p:cNvSpPr/>
          <p:nvPr/>
        </p:nvSpPr>
        <p:spPr>
          <a:xfrm>
            <a:off x="8200859" y="7960984"/>
            <a:ext cx="143261" cy="620801"/>
          </a:xfrm>
          <a:custGeom>
            <a:avLst/>
            <a:gdLst/>
            <a:ahLst/>
            <a:cxnLst/>
            <a:rect l="0" t="0" r="0" b="0"/>
            <a:pathLst>
              <a:path w="95507" h="413867">
                <a:moveTo>
                  <a:pt x="0" y="0"/>
                </a:moveTo>
                <a:lnTo>
                  <a:pt x="95507" y="0"/>
                </a:lnTo>
                <a:lnTo>
                  <a:pt x="95507" y="413867"/>
                </a:lnTo>
                <a:lnTo>
                  <a:pt x="0" y="413867"/>
                </a:lnTo>
                <a:lnTo>
                  <a:pt x="0" y="0"/>
                </a:lnTo>
              </a:path>
            </a:pathLst>
          </a:custGeom>
          <a:solidFill>
            <a:srgbClr val="7E56FF">
              <a:alpha val="3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2" name="Rounded Rectangle 11"/>
          <p:cNvSpPr/>
          <p:nvPr/>
        </p:nvSpPr>
        <p:spPr>
          <a:xfrm>
            <a:off x="8200859" y="7960984"/>
            <a:ext cx="143261" cy="620801"/>
          </a:xfrm>
          <a:custGeom>
            <a:avLst/>
            <a:gdLst/>
            <a:ahLst/>
            <a:cxnLst/>
            <a:rect l="0" t="0" r="0" b="0"/>
            <a:pathLst>
              <a:path w="95507" h="413867">
                <a:moveTo>
                  <a:pt x="0" y="0"/>
                </a:moveTo>
                <a:lnTo>
                  <a:pt x="0" y="413867"/>
                </a:lnTo>
                <a:lnTo>
                  <a:pt x="95507" y="413867"/>
                </a:lnTo>
                <a:lnTo>
                  <a:pt x="95507" y="0"/>
                </a:lnTo>
              </a:path>
            </a:pathLst>
          </a:custGeom>
          <a:noFill/>
          <a:ln w="119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3" name="Rounded Rectangle 12"/>
          <p:cNvSpPr/>
          <p:nvPr/>
        </p:nvSpPr>
        <p:spPr>
          <a:xfrm>
            <a:off x="8487383" y="6671627"/>
            <a:ext cx="143261" cy="1910159"/>
          </a:xfrm>
          <a:custGeom>
            <a:avLst/>
            <a:gdLst/>
            <a:ahLst/>
            <a:cxnLst/>
            <a:rect l="0" t="0" r="0" b="0"/>
            <a:pathLst>
              <a:path w="95507" h="1273439">
                <a:moveTo>
                  <a:pt x="0" y="0"/>
                </a:moveTo>
                <a:lnTo>
                  <a:pt x="95507" y="0"/>
                </a:lnTo>
                <a:lnTo>
                  <a:pt x="95507" y="1273439"/>
                </a:lnTo>
                <a:lnTo>
                  <a:pt x="0" y="1273439"/>
                </a:lnTo>
                <a:lnTo>
                  <a:pt x="0" y="0"/>
                </a:lnTo>
              </a:path>
            </a:pathLst>
          </a:custGeom>
          <a:solidFill>
            <a:srgbClr val="7E56FF">
              <a:alpha val="4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4" name="Rounded Rectangle 13"/>
          <p:cNvSpPr/>
          <p:nvPr/>
        </p:nvSpPr>
        <p:spPr>
          <a:xfrm>
            <a:off x="8487383" y="6671627"/>
            <a:ext cx="143261" cy="1910159"/>
          </a:xfrm>
          <a:custGeom>
            <a:avLst/>
            <a:gdLst/>
            <a:ahLst/>
            <a:cxnLst/>
            <a:rect l="0" t="0" r="0" b="0"/>
            <a:pathLst>
              <a:path w="95507" h="1273439">
                <a:moveTo>
                  <a:pt x="0" y="0"/>
                </a:moveTo>
                <a:lnTo>
                  <a:pt x="0" y="1273439"/>
                </a:lnTo>
                <a:lnTo>
                  <a:pt x="95507" y="1273439"/>
                </a:lnTo>
                <a:lnTo>
                  <a:pt x="95507" y="0"/>
                </a:lnTo>
              </a:path>
            </a:pathLst>
          </a:custGeom>
          <a:noFill/>
          <a:ln w="119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5" name="Rounded Rectangle 14"/>
          <p:cNvSpPr/>
          <p:nvPr/>
        </p:nvSpPr>
        <p:spPr>
          <a:xfrm>
            <a:off x="8773907" y="5382269"/>
            <a:ext cx="143261" cy="3199515"/>
          </a:xfrm>
          <a:custGeom>
            <a:avLst/>
            <a:gdLst/>
            <a:ahLst/>
            <a:cxnLst/>
            <a:rect l="0" t="0" r="0" b="0"/>
            <a:pathLst>
              <a:path w="95507" h="2133010">
                <a:moveTo>
                  <a:pt x="0" y="0"/>
                </a:moveTo>
                <a:lnTo>
                  <a:pt x="95507" y="0"/>
                </a:lnTo>
                <a:lnTo>
                  <a:pt x="95507" y="2133010"/>
                </a:lnTo>
                <a:lnTo>
                  <a:pt x="0" y="2133010"/>
                </a:lnTo>
                <a:lnTo>
                  <a:pt x="0" y="0"/>
                </a:lnTo>
              </a:path>
            </a:pathLst>
          </a:custGeom>
          <a:solidFill>
            <a:srgbClr val="7E56FF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6" name="Rounded Rectangle 15"/>
          <p:cNvSpPr/>
          <p:nvPr/>
        </p:nvSpPr>
        <p:spPr>
          <a:xfrm>
            <a:off x="8773907" y="5382269"/>
            <a:ext cx="143261" cy="3199515"/>
          </a:xfrm>
          <a:custGeom>
            <a:avLst/>
            <a:gdLst/>
            <a:ahLst/>
            <a:cxnLst/>
            <a:rect l="0" t="0" r="0" b="0"/>
            <a:pathLst>
              <a:path w="95507" h="2133010">
                <a:moveTo>
                  <a:pt x="0" y="0"/>
                </a:moveTo>
                <a:lnTo>
                  <a:pt x="0" y="2133010"/>
                </a:lnTo>
                <a:cubicBezTo>
                  <a:pt x="37298" y="2133010"/>
                  <a:pt x="58209" y="2133010"/>
                  <a:pt x="95507" y="2133010"/>
                </a:cubicBezTo>
                <a:lnTo>
                  <a:pt x="95507" y="0"/>
                </a:lnTo>
              </a:path>
            </a:pathLst>
          </a:custGeom>
          <a:noFill/>
          <a:ln w="119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7" name="Rounded Rectangle 16"/>
          <p:cNvSpPr/>
          <p:nvPr/>
        </p:nvSpPr>
        <p:spPr>
          <a:xfrm>
            <a:off x="9370831" y="4809223"/>
            <a:ext cx="2136989" cy="716309"/>
          </a:xfrm>
          <a:custGeom>
            <a:avLst/>
            <a:gdLst/>
            <a:ahLst/>
            <a:cxnLst/>
            <a:rect l="0" t="0" r="0" b="0"/>
            <a:pathLst>
              <a:path w="1424659" h="477539">
                <a:moveTo>
                  <a:pt x="1185890" y="0"/>
                </a:moveTo>
                <a:cubicBezTo>
                  <a:pt x="1317754" y="0"/>
                  <a:pt x="1424659" y="106897"/>
                  <a:pt x="1424659" y="238769"/>
                </a:cubicBezTo>
                <a:cubicBezTo>
                  <a:pt x="1424659" y="370642"/>
                  <a:pt x="1317754" y="477539"/>
                  <a:pt x="1185890" y="477539"/>
                </a:cubicBezTo>
                <a:cubicBezTo>
                  <a:pt x="1054025" y="477539"/>
                  <a:pt x="947120" y="370642"/>
                  <a:pt x="947120" y="238769"/>
                </a:cubicBezTo>
                <a:cubicBezTo>
                  <a:pt x="947120" y="106897"/>
                  <a:pt x="1054025" y="0"/>
                  <a:pt x="1185890" y="0"/>
                </a:cubicBezTo>
                <a:moveTo>
                  <a:pt x="950327" y="230810"/>
                </a:moveTo>
                <a:cubicBezTo>
                  <a:pt x="950327" y="247166"/>
                  <a:pt x="951959" y="263132"/>
                  <a:pt x="955079" y="278564"/>
                </a:cubicBezTo>
                <a:lnTo>
                  <a:pt x="285099" y="278564"/>
                </a:lnTo>
                <a:cubicBezTo>
                  <a:pt x="180127" y="278564"/>
                  <a:pt x="95030" y="372043"/>
                  <a:pt x="95030" y="477539"/>
                </a:cubicBezTo>
                <a:lnTo>
                  <a:pt x="0" y="477539"/>
                </a:lnTo>
                <a:cubicBezTo>
                  <a:pt x="0" y="319298"/>
                  <a:pt x="127638" y="183056"/>
                  <a:pt x="285099" y="183056"/>
                </a:cubicBezTo>
                <a:lnTo>
                  <a:pt x="955079" y="183056"/>
                </a:lnTo>
                <a:cubicBezTo>
                  <a:pt x="951959" y="198489"/>
                  <a:pt x="950327" y="214455"/>
                  <a:pt x="950327" y="230810"/>
                </a:cubicBezTo>
              </a:path>
            </a:pathLst>
          </a:custGeom>
          <a:solidFill>
            <a:srgbClr val="7E56FF">
              <a:alpha val="8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8" name="Rounded Rectangle 17"/>
          <p:cNvSpPr/>
          <p:nvPr/>
        </p:nvSpPr>
        <p:spPr>
          <a:xfrm>
            <a:off x="9370831" y="4809222"/>
            <a:ext cx="2136989" cy="704370"/>
          </a:xfrm>
          <a:custGeom>
            <a:avLst/>
            <a:gdLst/>
            <a:ahLst/>
            <a:cxnLst/>
            <a:rect l="0" t="0" r="0" b="0"/>
            <a:pathLst>
              <a:path w="1424659" h="469580">
                <a:moveTo>
                  <a:pt x="949773" y="234790"/>
                </a:moveTo>
                <a:cubicBezTo>
                  <a:pt x="949773" y="364461"/>
                  <a:pt x="1056080" y="469580"/>
                  <a:pt x="1187216" y="469580"/>
                </a:cubicBezTo>
                <a:cubicBezTo>
                  <a:pt x="1318353" y="469580"/>
                  <a:pt x="1424659" y="364461"/>
                  <a:pt x="1424659" y="234790"/>
                </a:cubicBezTo>
                <a:cubicBezTo>
                  <a:pt x="1424659" y="105119"/>
                  <a:pt x="1318353" y="0"/>
                  <a:pt x="1187216" y="0"/>
                </a:cubicBezTo>
                <a:cubicBezTo>
                  <a:pt x="1056080" y="0"/>
                  <a:pt x="949773" y="105119"/>
                  <a:pt x="949773" y="234790"/>
                </a:cubicBezTo>
                <a:close/>
                <a:moveTo>
                  <a:pt x="95507" y="469580"/>
                </a:moveTo>
                <a:cubicBezTo>
                  <a:pt x="95507" y="365843"/>
                  <a:pt x="181614" y="278564"/>
                  <a:pt x="286523" y="278564"/>
                </a:cubicBezTo>
                <a:lnTo>
                  <a:pt x="953892" y="278564"/>
                </a:lnTo>
                <a:cubicBezTo>
                  <a:pt x="950778" y="263392"/>
                  <a:pt x="949773" y="250871"/>
                  <a:pt x="949773" y="234790"/>
                </a:cubicBezTo>
                <a:cubicBezTo>
                  <a:pt x="949773" y="218709"/>
                  <a:pt x="952441" y="198229"/>
                  <a:pt x="955556" y="183056"/>
                </a:cubicBezTo>
                <a:lnTo>
                  <a:pt x="286523" y="183056"/>
                </a:lnTo>
                <a:cubicBezTo>
                  <a:pt x="129160" y="183056"/>
                  <a:pt x="0" y="313975"/>
                  <a:pt x="0" y="469580"/>
                </a:cubicBezTo>
              </a:path>
            </a:pathLst>
          </a:custGeom>
          <a:noFill/>
          <a:ln w="119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9" name="Rounded Rectangle 18"/>
          <p:cNvSpPr/>
          <p:nvPr/>
        </p:nvSpPr>
        <p:spPr>
          <a:xfrm>
            <a:off x="9657354" y="6098579"/>
            <a:ext cx="1850466" cy="716309"/>
          </a:xfrm>
          <a:custGeom>
            <a:avLst/>
            <a:gdLst/>
            <a:ahLst/>
            <a:cxnLst/>
            <a:rect l="0" t="0" r="0" b="0"/>
            <a:pathLst>
              <a:path w="1233644" h="477539">
                <a:moveTo>
                  <a:pt x="994874" y="0"/>
                </a:moveTo>
                <a:cubicBezTo>
                  <a:pt x="1126738" y="0"/>
                  <a:pt x="1233644" y="106897"/>
                  <a:pt x="1233644" y="238769"/>
                </a:cubicBezTo>
                <a:cubicBezTo>
                  <a:pt x="1233644" y="370642"/>
                  <a:pt x="1126738" y="477539"/>
                  <a:pt x="994874" y="477539"/>
                </a:cubicBezTo>
                <a:cubicBezTo>
                  <a:pt x="863009" y="477539"/>
                  <a:pt x="756104" y="370642"/>
                  <a:pt x="756104" y="238769"/>
                </a:cubicBezTo>
                <a:cubicBezTo>
                  <a:pt x="756104" y="106897"/>
                  <a:pt x="863009" y="0"/>
                  <a:pt x="994874" y="0"/>
                </a:cubicBezTo>
                <a:moveTo>
                  <a:pt x="759311" y="234790"/>
                </a:moveTo>
                <a:cubicBezTo>
                  <a:pt x="759311" y="251146"/>
                  <a:pt x="760943" y="267111"/>
                  <a:pt x="764063" y="282544"/>
                </a:cubicBezTo>
                <a:lnTo>
                  <a:pt x="285099" y="282544"/>
                </a:lnTo>
                <a:cubicBezTo>
                  <a:pt x="180127" y="282544"/>
                  <a:pt x="95030" y="372043"/>
                  <a:pt x="95030" y="477539"/>
                </a:cubicBezTo>
                <a:lnTo>
                  <a:pt x="0" y="477539"/>
                </a:lnTo>
                <a:cubicBezTo>
                  <a:pt x="0" y="319298"/>
                  <a:pt x="127646" y="187036"/>
                  <a:pt x="285099" y="187036"/>
                </a:cubicBezTo>
                <a:lnTo>
                  <a:pt x="764063" y="187036"/>
                </a:lnTo>
                <a:cubicBezTo>
                  <a:pt x="760943" y="202468"/>
                  <a:pt x="759311" y="218434"/>
                  <a:pt x="759311" y="234790"/>
                </a:cubicBez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0" name="Rounded Rectangle 19"/>
          <p:cNvSpPr/>
          <p:nvPr/>
        </p:nvSpPr>
        <p:spPr>
          <a:xfrm>
            <a:off x="9657354" y="6098579"/>
            <a:ext cx="1850466" cy="716309"/>
          </a:xfrm>
          <a:custGeom>
            <a:avLst/>
            <a:gdLst/>
            <a:ahLst/>
            <a:cxnLst/>
            <a:rect l="0" t="0" r="0" b="0"/>
            <a:pathLst>
              <a:path w="1233644" h="477539">
                <a:moveTo>
                  <a:pt x="758757" y="238769"/>
                </a:moveTo>
                <a:cubicBezTo>
                  <a:pt x="758757" y="370638"/>
                  <a:pt x="865064" y="477539"/>
                  <a:pt x="996201" y="477539"/>
                </a:cubicBezTo>
                <a:cubicBezTo>
                  <a:pt x="1127337" y="477539"/>
                  <a:pt x="1233644" y="370638"/>
                  <a:pt x="1233644" y="238769"/>
                </a:cubicBezTo>
                <a:cubicBezTo>
                  <a:pt x="1233644" y="106901"/>
                  <a:pt x="1127337" y="0"/>
                  <a:pt x="996201" y="0"/>
                </a:cubicBezTo>
                <a:cubicBezTo>
                  <a:pt x="865064" y="0"/>
                  <a:pt x="758757" y="106901"/>
                  <a:pt x="758757" y="238769"/>
                </a:cubicBezTo>
                <a:close/>
                <a:moveTo>
                  <a:pt x="95507" y="477539"/>
                </a:moveTo>
                <a:cubicBezTo>
                  <a:pt x="95507" y="372044"/>
                  <a:pt x="181614" y="283286"/>
                  <a:pt x="286523" y="283286"/>
                </a:cubicBezTo>
                <a:lnTo>
                  <a:pt x="762876" y="283286"/>
                </a:lnTo>
                <a:cubicBezTo>
                  <a:pt x="759762" y="267856"/>
                  <a:pt x="758757" y="255123"/>
                  <a:pt x="758757" y="238769"/>
                </a:cubicBezTo>
                <a:cubicBezTo>
                  <a:pt x="758757" y="222415"/>
                  <a:pt x="761425" y="201589"/>
                  <a:pt x="764540" y="186159"/>
                </a:cubicBezTo>
                <a:lnTo>
                  <a:pt x="286523" y="186159"/>
                </a:lnTo>
                <a:cubicBezTo>
                  <a:pt x="129160" y="186159"/>
                  <a:pt x="0" y="319297"/>
                  <a:pt x="0" y="477539"/>
                </a:cubicBezTo>
              </a:path>
            </a:pathLst>
          </a:custGeom>
          <a:noFill/>
          <a:ln w="119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1" name="Rounded Rectangle 20"/>
          <p:cNvSpPr/>
          <p:nvPr/>
        </p:nvSpPr>
        <p:spPr>
          <a:xfrm>
            <a:off x="9657355" y="6814889"/>
            <a:ext cx="143261" cy="1766897"/>
          </a:xfrm>
          <a:custGeom>
            <a:avLst/>
            <a:gdLst/>
            <a:ahLst/>
            <a:cxnLst/>
            <a:rect l="0" t="0" r="0" b="0"/>
            <a:pathLst>
              <a:path w="95507" h="1177931">
                <a:moveTo>
                  <a:pt x="0" y="0"/>
                </a:moveTo>
                <a:lnTo>
                  <a:pt x="95507" y="0"/>
                </a:lnTo>
                <a:lnTo>
                  <a:pt x="95507" y="1177931"/>
                </a:lnTo>
                <a:lnTo>
                  <a:pt x="0" y="1177931"/>
                </a:lnTo>
                <a:lnTo>
                  <a:pt x="0" y="0"/>
                </a:lnTo>
              </a:path>
            </a:pathLst>
          </a:custGeom>
          <a:solidFill>
            <a:srgbClr val="7E56FF"/>
          </a:solidFill>
          <a:ln>
            <a:noFill/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2" name="Rounded Rectangle 21"/>
          <p:cNvSpPr/>
          <p:nvPr/>
        </p:nvSpPr>
        <p:spPr>
          <a:xfrm>
            <a:off x="9657355" y="6814889"/>
            <a:ext cx="143261" cy="1766897"/>
          </a:xfrm>
          <a:custGeom>
            <a:avLst/>
            <a:gdLst/>
            <a:ahLst/>
            <a:cxnLst/>
            <a:rect l="0" t="0" r="0" b="0"/>
            <a:pathLst>
              <a:path w="95507" h="1177931">
                <a:moveTo>
                  <a:pt x="0" y="0"/>
                </a:moveTo>
                <a:lnTo>
                  <a:pt x="0" y="1177931"/>
                </a:lnTo>
                <a:lnTo>
                  <a:pt x="95507" y="1177931"/>
                </a:lnTo>
                <a:lnTo>
                  <a:pt x="95507" y="0"/>
                </a:lnTo>
              </a:path>
            </a:pathLst>
          </a:custGeom>
          <a:noFill/>
          <a:ln w="119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3" name="Rounded Rectangle 22"/>
          <p:cNvSpPr/>
          <p:nvPr/>
        </p:nvSpPr>
        <p:spPr>
          <a:xfrm>
            <a:off x="9370831" y="5525531"/>
            <a:ext cx="143261" cy="3056253"/>
          </a:xfrm>
          <a:custGeom>
            <a:avLst/>
            <a:gdLst/>
            <a:ahLst/>
            <a:cxnLst/>
            <a:rect l="0" t="0" r="0" b="0"/>
            <a:pathLst>
              <a:path w="95507" h="2037502">
                <a:moveTo>
                  <a:pt x="0" y="0"/>
                </a:moveTo>
                <a:lnTo>
                  <a:pt x="95507" y="0"/>
                </a:lnTo>
                <a:lnTo>
                  <a:pt x="95507" y="2037502"/>
                </a:lnTo>
                <a:lnTo>
                  <a:pt x="0" y="2037502"/>
                </a:lnTo>
                <a:lnTo>
                  <a:pt x="0" y="0"/>
                </a:lnTo>
              </a:path>
            </a:pathLst>
          </a:custGeom>
          <a:solidFill>
            <a:srgbClr val="7E56FF">
              <a:alpha val="8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4" name="Rounded Rectangle 23"/>
          <p:cNvSpPr/>
          <p:nvPr/>
        </p:nvSpPr>
        <p:spPr>
          <a:xfrm>
            <a:off x="9370831" y="5513593"/>
            <a:ext cx="143261" cy="3068192"/>
          </a:xfrm>
          <a:custGeom>
            <a:avLst/>
            <a:gdLst/>
            <a:ahLst/>
            <a:cxnLst/>
            <a:rect l="0" t="0" r="0" b="0"/>
            <a:pathLst>
              <a:path w="95507" h="2045461">
                <a:moveTo>
                  <a:pt x="0" y="0"/>
                </a:moveTo>
                <a:lnTo>
                  <a:pt x="0" y="2045461"/>
                </a:lnTo>
                <a:lnTo>
                  <a:pt x="95507" y="2045461"/>
                </a:lnTo>
                <a:lnTo>
                  <a:pt x="95507" y="0"/>
                </a:lnTo>
              </a:path>
            </a:pathLst>
          </a:custGeom>
          <a:noFill/>
          <a:ln w="119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5" name="Rounded Rectangle 24"/>
          <p:cNvSpPr/>
          <p:nvPr/>
        </p:nvSpPr>
        <p:spPr>
          <a:xfrm>
            <a:off x="9072370" y="4379437"/>
            <a:ext cx="143261" cy="4202348"/>
          </a:xfrm>
          <a:custGeom>
            <a:avLst/>
            <a:gdLst/>
            <a:ahLst/>
            <a:cxnLst/>
            <a:rect l="0" t="0" r="0" b="0"/>
            <a:pathLst>
              <a:path w="95507" h="2801565">
                <a:moveTo>
                  <a:pt x="0" y="0"/>
                </a:moveTo>
                <a:lnTo>
                  <a:pt x="95507" y="0"/>
                </a:lnTo>
                <a:lnTo>
                  <a:pt x="95507" y="2801565"/>
                </a:lnTo>
                <a:lnTo>
                  <a:pt x="0" y="2801565"/>
                </a:lnTo>
                <a:lnTo>
                  <a:pt x="0" y="0"/>
                </a:lnTo>
              </a:path>
            </a:pathLst>
          </a:custGeom>
          <a:solidFill>
            <a:srgbClr val="7E56FF">
              <a:alpha val="7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6" name="Rounded Rectangle 25"/>
          <p:cNvSpPr/>
          <p:nvPr/>
        </p:nvSpPr>
        <p:spPr>
          <a:xfrm>
            <a:off x="9072370" y="4379437"/>
            <a:ext cx="143261" cy="4202348"/>
          </a:xfrm>
          <a:custGeom>
            <a:avLst/>
            <a:gdLst/>
            <a:ahLst/>
            <a:cxnLst/>
            <a:rect l="0" t="0" r="0" b="0"/>
            <a:pathLst>
              <a:path w="95507" h="2801565">
                <a:moveTo>
                  <a:pt x="0" y="0"/>
                </a:moveTo>
                <a:lnTo>
                  <a:pt x="95507" y="0"/>
                </a:lnTo>
                <a:lnTo>
                  <a:pt x="95507" y="2801565"/>
                </a:lnTo>
                <a:lnTo>
                  <a:pt x="0" y="2801565"/>
                </a:lnTo>
                <a:close/>
              </a:path>
            </a:pathLst>
          </a:custGeom>
          <a:noFill/>
          <a:ln w="11937">
            <a:solidFill>
              <a:srgbClr val="1A1536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grpSp>
        <p:nvGrpSpPr>
          <p:cNvPr id="29" name="Group 28"/>
          <p:cNvGrpSpPr/>
          <p:nvPr/>
        </p:nvGrpSpPr>
        <p:grpSpPr>
          <a:xfrm>
            <a:off x="3898525" y="5095745"/>
            <a:ext cx="2559314" cy="429783"/>
            <a:chOff x="617816" y="2912991"/>
            <a:chExt cx="1706209" cy="286522"/>
          </a:xfrm>
        </p:grpSpPr>
        <p:sp>
          <p:nvSpPr>
            <p:cNvPr id="27" name="TextBox 26"/>
            <p:cNvSpPr txBox="1"/>
            <p:nvPr/>
          </p:nvSpPr>
          <p:spPr>
            <a:xfrm>
              <a:off x="617816" y="2912991"/>
              <a:ext cx="1706209" cy="1432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2000" dirty="0">
                  <a:solidFill>
                    <a:srgbClr val="FFFFFF"/>
                  </a:solidFill>
                  <a:latin typeface="Funnel Display 300"/>
                </a:rPr>
                <a:t>Use MobileNetV2 to classify oil</a:t>
              </a:r>
              <a:endParaRPr sz="1200" dirty="0">
                <a:solidFill>
                  <a:srgbClr val="FFFFFF"/>
                </a:solidFill>
                <a:latin typeface="Funnel Display 30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17816" y="3056252"/>
              <a:ext cx="1706209" cy="1432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2000" dirty="0">
                  <a:solidFill>
                    <a:srgbClr val="FFFFFF"/>
                  </a:solidFill>
                  <a:latin typeface="Funnel Display 300"/>
                </a:rPr>
                <a:t>spills and assess severity.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1830160" y="4809223"/>
            <a:ext cx="1160826" cy="2865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Funnel Display Regular"/>
              </a:rPr>
              <a:t>Agentic AI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1830160" y="5239007"/>
            <a:ext cx="2817483" cy="429783"/>
            <a:chOff x="5905573" y="3008499"/>
            <a:chExt cx="1878322" cy="286522"/>
          </a:xfrm>
        </p:grpSpPr>
        <p:sp>
          <p:nvSpPr>
            <p:cNvPr id="31" name="TextBox 30"/>
            <p:cNvSpPr txBox="1"/>
            <p:nvPr/>
          </p:nvSpPr>
          <p:spPr>
            <a:xfrm>
              <a:off x="5905573" y="3008499"/>
              <a:ext cx="1878322" cy="1432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000" dirty="0">
                  <a:solidFill>
                    <a:srgbClr val="FFFFFF"/>
                  </a:solidFill>
                  <a:latin typeface="Funnel Display 300"/>
                </a:rPr>
                <a:t>Fuse evidence and reason across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905573" y="3151760"/>
              <a:ext cx="1878322" cy="1432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000" dirty="0">
                  <a:solidFill>
                    <a:srgbClr val="FFFFFF"/>
                  </a:solidFill>
                  <a:latin typeface="Funnel Display 300"/>
                </a:rPr>
                <a:t>sources for incident analysis.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207433" y="5955317"/>
            <a:ext cx="2250405" cy="2865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2800" b="1" dirty="0">
                <a:solidFill>
                  <a:srgbClr val="FFFFFF"/>
                </a:solidFill>
                <a:latin typeface="Funnel Display 600"/>
              </a:rPr>
              <a:t>Data Preprocessing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1248" y="4948899"/>
            <a:ext cx="380847" cy="416202"/>
          </a:xfrm>
          <a:custGeom>
            <a:avLst/>
            <a:gdLst/>
            <a:ahLst/>
            <a:cxnLst/>
            <a:rect l="0" t="0" r="0" b="0"/>
            <a:pathLst>
              <a:path w="253898" h="277468">
                <a:moveTo>
                  <a:pt x="81072" y="277468"/>
                </a:moveTo>
                <a:lnTo>
                  <a:pt x="81072" y="216153"/>
                </a:lnTo>
                <a:cubicBezTo>
                  <a:pt x="67549" y="203625"/>
                  <a:pt x="58118" y="187309"/>
                  <a:pt x="54010" y="169338"/>
                </a:cubicBezTo>
                <a:cubicBezTo>
                  <a:pt x="53573" y="167427"/>
                  <a:pt x="52898" y="164852"/>
                  <a:pt x="52586" y="162925"/>
                </a:cubicBezTo>
                <a:lnTo>
                  <a:pt x="91201" y="162773"/>
                </a:lnTo>
                <a:cubicBezTo>
                  <a:pt x="91201" y="174059"/>
                  <a:pt x="100231" y="183207"/>
                  <a:pt x="111370" y="183207"/>
                </a:cubicBezTo>
                <a:cubicBezTo>
                  <a:pt x="122508" y="183207"/>
                  <a:pt x="131538" y="174059"/>
                  <a:pt x="131538" y="162773"/>
                </a:cubicBezTo>
                <a:lnTo>
                  <a:pt x="157858" y="162925"/>
                </a:lnTo>
                <a:lnTo>
                  <a:pt x="157778" y="132814"/>
                </a:lnTo>
                <a:cubicBezTo>
                  <a:pt x="146547" y="132814"/>
                  <a:pt x="137441" y="123784"/>
                  <a:pt x="137441" y="112645"/>
                </a:cubicBezTo>
                <a:cubicBezTo>
                  <a:pt x="137441" y="101507"/>
                  <a:pt x="146547" y="92477"/>
                  <a:pt x="157778" y="92477"/>
                </a:cubicBezTo>
                <a:lnTo>
                  <a:pt x="157794" y="58147"/>
                </a:lnTo>
                <a:cubicBezTo>
                  <a:pt x="215565" y="65625"/>
                  <a:pt x="230215" y="119465"/>
                  <a:pt x="253321" y="179403"/>
                </a:cubicBezTo>
                <a:cubicBezTo>
                  <a:pt x="253748" y="180515"/>
                  <a:pt x="253898" y="181714"/>
                  <a:pt x="253758" y="182897"/>
                </a:cubicBezTo>
                <a:cubicBezTo>
                  <a:pt x="253618" y="184080"/>
                  <a:pt x="253193" y="185212"/>
                  <a:pt x="252519" y="186194"/>
                </a:cubicBezTo>
                <a:cubicBezTo>
                  <a:pt x="251845" y="187177"/>
                  <a:pt x="250942" y="187980"/>
                  <a:pt x="249889" y="188537"/>
                </a:cubicBezTo>
                <a:cubicBezTo>
                  <a:pt x="248834" y="189092"/>
                  <a:pt x="247662" y="189383"/>
                  <a:pt x="246471" y="189386"/>
                </a:cubicBezTo>
                <a:lnTo>
                  <a:pt x="227875" y="189386"/>
                </a:lnTo>
                <a:lnTo>
                  <a:pt x="227875" y="218746"/>
                </a:lnTo>
                <a:cubicBezTo>
                  <a:pt x="227875" y="226533"/>
                  <a:pt x="224782" y="234001"/>
                  <a:pt x="219276" y="239507"/>
                </a:cubicBezTo>
                <a:cubicBezTo>
                  <a:pt x="213770" y="245013"/>
                  <a:pt x="206301" y="248106"/>
                  <a:pt x="198515" y="248106"/>
                </a:cubicBezTo>
                <a:lnTo>
                  <a:pt x="183834" y="248106"/>
                </a:lnTo>
                <a:lnTo>
                  <a:pt x="183834" y="277468"/>
                </a:lnTo>
                <a:moveTo>
                  <a:pt x="56197" y="101513"/>
                </a:moveTo>
                <a:cubicBezTo>
                  <a:pt x="57173" y="99296"/>
                  <a:pt x="57755" y="97006"/>
                  <a:pt x="57972" y="94721"/>
                </a:cubicBezTo>
                <a:lnTo>
                  <a:pt x="81484" y="105076"/>
                </a:lnTo>
                <a:lnTo>
                  <a:pt x="91580" y="82151"/>
                </a:lnTo>
                <a:cubicBezTo>
                  <a:pt x="90918" y="81942"/>
                  <a:pt x="90261" y="81695"/>
                  <a:pt x="89611" y="81409"/>
                </a:cubicBezTo>
                <a:cubicBezTo>
                  <a:pt x="79984" y="77170"/>
                  <a:pt x="75610" y="65944"/>
                  <a:pt x="79841" y="56336"/>
                </a:cubicBezTo>
                <a:cubicBezTo>
                  <a:pt x="84072" y="46729"/>
                  <a:pt x="95306" y="42377"/>
                  <a:pt x="104933" y="46616"/>
                </a:cubicBezTo>
                <a:cubicBezTo>
                  <a:pt x="105583" y="46903"/>
                  <a:pt x="106209" y="47221"/>
                  <a:pt x="106809" y="47568"/>
                </a:cubicBezTo>
                <a:lnTo>
                  <a:pt x="117702" y="22833"/>
                </a:lnTo>
                <a:cubicBezTo>
                  <a:pt x="63122" y="0"/>
                  <a:pt x="13966" y="22495"/>
                  <a:pt x="0" y="69191"/>
                </a:cubicBezTo>
                <a:lnTo>
                  <a:pt x="20029" y="78012"/>
                </a:lnTo>
                <a:cubicBezTo>
                  <a:pt x="18490" y="79715"/>
                  <a:pt x="17193" y="81690"/>
                  <a:pt x="16217" y="83906"/>
                </a:cubicBezTo>
                <a:cubicBezTo>
                  <a:pt x="11334" y="94995"/>
                  <a:pt x="16325" y="107925"/>
                  <a:pt x="27365" y="112787"/>
                </a:cubicBezTo>
                <a:cubicBezTo>
                  <a:pt x="38405" y="117649"/>
                  <a:pt x="51314" y="112601"/>
                  <a:pt x="56197" y="101513"/>
                </a:cubicBezTo>
                <a:close/>
              </a:path>
            </a:pathLst>
          </a:custGeom>
          <a:noFill/>
          <a:ln w="1193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6" name="Rounded Rectangle 35"/>
          <p:cNvSpPr/>
          <p:nvPr/>
        </p:nvSpPr>
        <p:spPr>
          <a:xfrm>
            <a:off x="6911502" y="6098579"/>
            <a:ext cx="420444" cy="416354"/>
          </a:xfrm>
          <a:custGeom>
            <a:avLst/>
            <a:gdLst/>
            <a:ahLst/>
            <a:cxnLst/>
            <a:rect l="0" t="0" r="0" b="0"/>
            <a:pathLst>
              <a:path w="280296" h="277569">
                <a:moveTo>
                  <a:pt x="8953" y="277569"/>
                </a:moveTo>
                <a:cubicBezTo>
                  <a:pt x="26782" y="277569"/>
                  <a:pt x="44610" y="277569"/>
                  <a:pt x="62439" y="259662"/>
                </a:cubicBezTo>
                <a:cubicBezTo>
                  <a:pt x="80267" y="277569"/>
                  <a:pt x="98096" y="277569"/>
                  <a:pt x="102850" y="277569"/>
                </a:cubicBezTo>
                <a:cubicBezTo>
                  <a:pt x="107604" y="277569"/>
                  <a:pt x="125432" y="277569"/>
                  <a:pt x="143261" y="259662"/>
                </a:cubicBezTo>
                <a:cubicBezTo>
                  <a:pt x="161090" y="277569"/>
                  <a:pt x="178918" y="277569"/>
                  <a:pt x="183673" y="277569"/>
                </a:cubicBezTo>
                <a:cubicBezTo>
                  <a:pt x="188427" y="277569"/>
                  <a:pt x="206255" y="277569"/>
                  <a:pt x="224084" y="259662"/>
                </a:cubicBezTo>
                <a:cubicBezTo>
                  <a:pt x="241913" y="277569"/>
                  <a:pt x="259740" y="277569"/>
                  <a:pt x="277569" y="277569"/>
                </a:cubicBezTo>
                <a:moveTo>
                  <a:pt x="240560" y="52536"/>
                </a:moveTo>
                <a:cubicBezTo>
                  <a:pt x="262505" y="52536"/>
                  <a:pt x="280296" y="42779"/>
                  <a:pt x="280296" y="30744"/>
                </a:cubicBezTo>
                <a:cubicBezTo>
                  <a:pt x="280296" y="18710"/>
                  <a:pt x="262505" y="8953"/>
                  <a:pt x="240560" y="8953"/>
                </a:cubicBezTo>
                <a:cubicBezTo>
                  <a:pt x="218614" y="8953"/>
                  <a:pt x="200823" y="18710"/>
                  <a:pt x="200823" y="30744"/>
                </a:cubicBezTo>
                <a:cubicBezTo>
                  <a:pt x="200823" y="42779"/>
                  <a:pt x="218614" y="52536"/>
                  <a:pt x="240560" y="52536"/>
                </a:cubicBezTo>
                <a:close/>
                <a:moveTo>
                  <a:pt x="200823" y="30744"/>
                </a:moveTo>
                <a:lnTo>
                  <a:pt x="200823" y="89708"/>
                </a:lnTo>
                <a:cubicBezTo>
                  <a:pt x="200823" y="101244"/>
                  <a:pt x="218769" y="111499"/>
                  <a:pt x="240560" y="111499"/>
                </a:cubicBezTo>
                <a:cubicBezTo>
                  <a:pt x="262350" y="111499"/>
                  <a:pt x="280296" y="101244"/>
                  <a:pt x="280296" y="89708"/>
                </a:cubicBezTo>
                <a:lnTo>
                  <a:pt x="280296" y="30744"/>
                </a:lnTo>
                <a:moveTo>
                  <a:pt x="27240" y="230775"/>
                </a:moveTo>
                <a:cubicBezTo>
                  <a:pt x="27240" y="226856"/>
                  <a:pt x="25934" y="222938"/>
                  <a:pt x="22015" y="219019"/>
                </a:cubicBezTo>
                <a:lnTo>
                  <a:pt x="14178" y="211182"/>
                </a:lnTo>
                <a:cubicBezTo>
                  <a:pt x="8953" y="207264"/>
                  <a:pt x="7647" y="199427"/>
                  <a:pt x="10260" y="194202"/>
                </a:cubicBezTo>
                <a:cubicBezTo>
                  <a:pt x="12872" y="187671"/>
                  <a:pt x="18097" y="185059"/>
                  <a:pt x="24628" y="185059"/>
                </a:cubicBezTo>
                <a:lnTo>
                  <a:pt x="35077" y="185059"/>
                </a:lnTo>
                <a:cubicBezTo>
                  <a:pt x="38996" y="185059"/>
                  <a:pt x="44220" y="183753"/>
                  <a:pt x="46832" y="181140"/>
                </a:cubicBezTo>
                <a:cubicBezTo>
                  <a:pt x="49445" y="178528"/>
                  <a:pt x="50751" y="174600"/>
                  <a:pt x="50751" y="169385"/>
                </a:cubicBezTo>
                <a:lnTo>
                  <a:pt x="50751" y="158935"/>
                </a:lnTo>
                <a:cubicBezTo>
                  <a:pt x="50751" y="152405"/>
                  <a:pt x="54669" y="145874"/>
                  <a:pt x="59894" y="144567"/>
                </a:cubicBezTo>
                <a:cubicBezTo>
                  <a:pt x="66425" y="141955"/>
                  <a:pt x="72956" y="143261"/>
                  <a:pt x="76874" y="148486"/>
                </a:cubicBezTo>
                <a:lnTo>
                  <a:pt x="84712" y="156323"/>
                </a:lnTo>
                <a:cubicBezTo>
                  <a:pt x="87324" y="158935"/>
                  <a:pt x="91242" y="161548"/>
                  <a:pt x="96467" y="161548"/>
                </a:cubicBezTo>
                <a:cubicBezTo>
                  <a:pt x="101692" y="161548"/>
                  <a:pt x="104304" y="160242"/>
                  <a:pt x="108223" y="156323"/>
                </a:cubicBezTo>
                <a:lnTo>
                  <a:pt x="116060" y="148486"/>
                </a:lnTo>
                <a:cubicBezTo>
                  <a:pt x="119978" y="143261"/>
                  <a:pt x="127815" y="141955"/>
                  <a:pt x="133040" y="144567"/>
                </a:cubicBezTo>
                <a:cubicBezTo>
                  <a:pt x="139571" y="147180"/>
                  <a:pt x="142183" y="152405"/>
                  <a:pt x="142183" y="158935"/>
                </a:cubicBezTo>
                <a:lnTo>
                  <a:pt x="142183" y="169385"/>
                </a:lnTo>
                <a:cubicBezTo>
                  <a:pt x="142183" y="173303"/>
                  <a:pt x="143489" y="178528"/>
                  <a:pt x="146102" y="181140"/>
                </a:cubicBezTo>
                <a:cubicBezTo>
                  <a:pt x="148714" y="183753"/>
                  <a:pt x="153939" y="186365"/>
                  <a:pt x="157857" y="185059"/>
                </a:cubicBezTo>
                <a:lnTo>
                  <a:pt x="168307" y="185059"/>
                </a:lnTo>
                <a:cubicBezTo>
                  <a:pt x="174838" y="185059"/>
                  <a:pt x="181368" y="188977"/>
                  <a:pt x="182675" y="194202"/>
                </a:cubicBezTo>
                <a:cubicBezTo>
                  <a:pt x="185287" y="200733"/>
                  <a:pt x="183981" y="207264"/>
                  <a:pt x="178756" y="211182"/>
                </a:cubicBezTo>
                <a:lnTo>
                  <a:pt x="170919" y="219019"/>
                </a:lnTo>
                <a:cubicBezTo>
                  <a:pt x="168306" y="221632"/>
                  <a:pt x="165694" y="225550"/>
                  <a:pt x="165694" y="230775"/>
                </a:cubicBezTo>
                <a:moveTo>
                  <a:pt x="126509" y="230774"/>
                </a:moveTo>
                <a:cubicBezTo>
                  <a:pt x="126509" y="213794"/>
                  <a:pt x="113447" y="200732"/>
                  <a:pt x="97773" y="200732"/>
                </a:cubicBezTo>
                <a:cubicBezTo>
                  <a:pt x="80793" y="200732"/>
                  <a:pt x="67731" y="215100"/>
                  <a:pt x="67731" y="230774"/>
                </a:cubicBezTo>
                <a:moveTo>
                  <a:pt x="240560" y="227129"/>
                </a:moveTo>
                <a:lnTo>
                  <a:pt x="240560" y="139978"/>
                </a:lnTo>
                <a:moveTo>
                  <a:pt x="0" y="0"/>
                </a:moveTo>
                <a:moveTo>
                  <a:pt x="216683" y="203252"/>
                </a:moveTo>
                <a:lnTo>
                  <a:pt x="240560" y="227129"/>
                </a:lnTo>
                <a:lnTo>
                  <a:pt x="264437" y="203252"/>
                </a:lnTo>
                <a:moveTo>
                  <a:pt x="280296" y="64591"/>
                </a:moveTo>
                <a:cubicBezTo>
                  <a:pt x="280296" y="73895"/>
                  <a:pt x="263113" y="81508"/>
                  <a:pt x="240559" y="81508"/>
                </a:cubicBezTo>
                <a:cubicBezTo>
                  <a:pt x="218006" y="81508"/>
                  <a:pt x="200823" y="73895"/>
                  <a:pt x="200823" y="64591"/>
                </a:cubicBezTo>
              </a:path>
            </a:pathLst>
          </a:custGeom>
          <a:noFill/>
          <a:ln w="1193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7" name="Rounded Rectangle 36"/>
          <p:cNvSpPr/>
          <p:nvPr/>
        </p:nvSpPr>
        <p:spPr>
          <a:xfrm>
            <a:off x="6911503" y="4809223"/>
            <a:ext cx="423920" cy="416354"/>
          </a:xfrm>
          <a:custGeom>
            <a:avLst/>
            <a:gdLst/>
            <a:ahLst/>
            <a:cxnLst/>
            <a:rect l="0" t="0" r="0" b="0"/>
            <a:pathLst>
              <a:path w="282613" h="277569">
                <a:moveTo>
                  <a:pt x="26729" y="235785"/>
                </a:moveTo>
                <a:cubicBezTo>
                  <a:pt x="36619" y="235785"/>
                  <a:pt x="44637" y="227767"/>
                  <a:pt x="44637" y="217877"/>
                </a:cubicBezTo>
                <a:cubicBezTo>
                  <a:pt x="44637" y="207987"/>
                  <a:pt x="36619" y="199969"/>
                  <a:pt x="26729" y="199969"/>
                </a:cubicBezTo>
                <a:cubicBezTo>
                  <a:pt x="16839" y="199969"/>
                  <a:pt x="8821" y="207987"/>
                  <a:pt x="8821" y="217877"/>
                </a:cubicBezTo>
                <a:cubicBezTo>
                  <a:pt x="8821" y="227767"/>
                  <a:pt x="16839" y="235785"/>
                  <a:pt x="26729" y="235785"/>
                </a:cubicBezTo>
                <a:close/>
                <a:moveTo>
                  <a:pt x="105524" y="180292"/>
                </a:moveTo>
                <a:cubicBezTo>
                  <a:pt x="115415" y="180292"/>
                  <a:pt x="123433" y="172274"/>
                  <a:pt x="123433" y="162384"/>
                </a:cubicBezTo>
                <a:cubicBezTo>
                  <a:pt x="123433" y="152495"/>
                  <a:pt x="115415" y="144477"/>
                  <a:pt x="105524" y="144477"/>
                </a:cubicBezTo>
                <a:cubicBezTo>
                  <a:pt x="95634" y="144477"/>
                  <a:pt x="87617" y="152495"/>
                  <a:pt x="87617" y="162384"/>
                </a:cubicBezTo>
                <a:cubicBezTo>
                  <a:pt x="87617" y="172274"/>
                  <a:pt x="95634" y="180292"/>
                  <a:pt x="105524" y="180292"/>
                </a:cubicBezTo>
                <a:close/>
                <a:moveTo>
                  <a:pt x="0" y="0"/>
                </a:moveTo>
                <a:moveTo>
                  <a:pt x="105524" y="180292"/>
                </a:moveTo>
                <a:lnTo>
                  <a:pt x="105524" y="277569"/>
                </a:lnTo>
                <a:moveTo>
                  <a:pt x="44637" y="217877"/>
                </a:moveTo>
                <a:lnTo>
                  <a:pt x="54719" y="217877"/>
                </a:lnTo>
                <a:cubicBezTo>
                  <a:pt x="62280" y="217877"/>
                  <a:pt x="67321" y="222652"/>
                  <a:pt x="67321" y="229815"/>
                </a:cubicBezTo>
                <a:lnTo>
                  <a:pt x="67321" y="277569"/>
                </a:lnTo>
                <a:moveTo>
                  <a:pt x="183124" y="235785"/>
                </a:moveTo>
                <a:cubicBezTo>
                  <a:pt x="193014" y="235785"/>
                  <a:pt x="201032" y="227767"/>
                  <a:pt x="201032" y="217877"/>
                </a:cubicBezTo>
                <a:cubicBezTo>
                  <a:pt x="201032" y="207987"/>
                  <a:pt x="193014" y="199969"/>
                  <a:pt x="183124" y="199969"/>
                </a:cubicBezTo>
                <a:cubicBezTo>
                  <a:pt x="173234" y="199969"/>
                  <a:pt x="165216" y="207987"/>
                  <a:pt x="165216" y="217877"/>
                </a:cubicBezTo>
                <a:cubicBezTo>
                  <a:pt x="165216" y="227767"/>
                  <a:pt x="173234" y="235785"/>
                  <a:pt x="183124" y="235785"/>
                </a:cubicBezTo>
                <a:close/>
                <a:moveTo>
                  <a:pt x="165216" y="217877"/>
                </a:moveTo>
                <a:lnTo>
                  <a:pt x="155665" y="217877"/>
                </a:lnTo>
                <a:cubicBezTo>
                  <a:pt x="148502" y="217877"/>
                  <a:pt x="143727" y="222652"/>
                  <a:pt x="143727" y="229815"/>
                </a:cubicBezTo>
                <a:lnTo>
                  <a:pt x="143727" y="277569"/>
                </a:lnTo>
                <a:moveTo>
                  <a:pt x="0" y="0"/>
                </a:moveTo>
                <a:moveTo>
                  <a:pt x="73289" y="119981"/>
                </a:moveTo>
                <a:lnTo>
                  <a:pt x="68514" y="114011"/>
                </a:lnTo>
                <a:cubicBezTo>
                  <a:pt x="66126" y="110430"/>
                  <a:pt x="60157" y="109236"/>
                  <a:pt x="56575" y="111624"/>
                </a:cubicBezTo>
                <a:lnTo>
                  <a:pt x="44637" y="118787"/>
                </a:lnTo>
                <a:cubicBezTo>
                  <a:pt x="35086" y="124756"/>
                  <a:pt x="23147" y="114011"/>
                  <a:pt x="27923" y="103267"/>
                </a:cubicBezTo>
                <a:lnTo>
                  <a:pt x="33892" y="91328"/>
                </a:lnTo>
                <a:cubicBezTo>
                  <a:pt x="36280" y="86553"/>
                  <a:pt x="33892" y="81777"/>
                  <a:pt x="30310" y="79390"/>
                </a:cubicBezTo>
                <a:lnTo>
                  <a:pt x="18372" y="73421"/>
                </a:lnTo>
                <a:cubicBezTo>
                  <a:pt x="7627" y="67451"/>
                  <a:pt x="11209" y="51931"/>
                  <a:pt x="23147" y="50737"/>
                </a:cubicBezTo>
                <a:lnTo>
                  <a:pt x="36280" y="49544"/>
                </a:lnTo>
                <a:cubicBezTo>
                  <a:pt x="41055" y="49544"/>
                  <a:pt x="44637" y="44768"/>
                  <a:pt x="44637" y="39993"/>
                </a:cubicBezTo>
                <a:lnTo>
                  <a:pt x="44637" y="26861"/>
                </a:lnTo>
                <a:cubicBezTo>
                  <a:pt x="44637" y="14922"/>
                  <a:pt x="58963" y="10147"/>
                  <a:pt x="66126" y="19697"/>
                </a:cubicBezTo>
                <a:lnTo>
                  <a:pt x="74483" y="30442"/>
                </a:lnTo>
                <a:cubicBezTo>
                  <a:pt x="76871" y="34024"/>
                  <a:pt x="82840" y="35217"/>
                  <a:pt x="86421" y="32830"/>
                </a:cubicBezTo>
                <a:lnTo>
                  <a:pt x="98360" y="25667"/>
                </a:lnTo>
                <a:cubicBezTo>
                  <a:pt x="107911" y="19697"/>
                  <a:pt x="119849" y="30442"/>
                  <a:pt x="115074" y="41187"/>
                </a:cubicBezTo>
                <a:lnTo>
                  <a:pt x="109105" y="53125"/>
                </a:lnTo>
                <a:cubicBezTo>
                  <a:pt x="106717" y="57900"/>
                  <a:pt x="109105" y="62676"/>
                  <a:pt x="112686" y="65064"/>
                </a:cubicBezTo>
                <a:lnTo>
                  <a:pt x="124624" y="71033"/>
                </a:lnTo>
                <a:cubicBezTo>
                  <a:pt x="135369" y="77002"/>
                  <a:pt x="131787" y="92522"/>
                  <a:pt x="119849" y="93716"/>
                </a:cubicBezTo>
                <a:lnTo>
                  <a:pt x="106717" y="94910"/>
                </a:lnTo>
                <a:cubicBezTo>
                  <a:pt x="101941" y="94910"/>
                  <a:pt x="98360" y="99685"/>
                  <a:pt x="98360" y="104461"/>
                </a:cubicBezTo>
                <a:lnTo>
                  <a:pt x="98360" y="111624"/>
                </a:lnTo>
                <a:moveTo>
                  <a:pt x="0" y="0"/>
                </a:moveTo>
                <a:moveTo>
                  <a:pt x="233279" y="28332"/>
                </a:moveTo>
                <a:lnTo>
                  <a:pt x="237389" y="41694"/>
                </a:lnTo>
                <a:cubicBezTo>
                  <a:pt x="238417" y="46833"/>
                  <a:pt x="243557" y="48889"/>
                  <a:pt x="248695" y="47861"/>
                </a:cubicBezTo>
                <a:lnTo>
                  <a:pt x="262058" y="44777"/>
                </a:lnTo>
                <a:cubicBezTo>
                  <a:pt x="274391" y="41694"/>
                  <a:pt x="282613" y="56083"/>
                  <a:pt x="274391" y="65334"/>
                </a:cubicBezTo>
                <a:lnTo>
                  <a:pt x="265140" y="75612"/>
                </a:lnTo>
                <a:cubicBezTo>
                  <a:pt x="262058" y="79723"/>
                  <a:pt x="262058" y="84862"/>
                  <a:pt x="265140" y="87945"/>
                </a:cubicBezTo>
                <a:lnTo>
                  <a:pt x="274391" y="98224"/>
                </a:lnTo>
                <a:cubicBezTo>
                  <a:pt x="282613" y="107474"/>
                  <a:pt x="274391" y="121863"/>
                  <a:pt x="262058" y="118780"/>
                </a:cubicBezTo>
                <a:lnTo>
                  <a:pt x="248695" y="115696"/>
                </a:lnTo>
                <a:cubicBezTo>
                  <a:pt x="243557" y="114669"/>
                  <a:pt x="239445" y="117752"/>
                  <a:pt x="237389" y="121864"/>
                </a:cubicBezTo>
                <a:lnTo>
                  <a:pt x="233279" y="135226"/>
                </a:lnTo>
                <a:cubicBezTo>
                  <a:pt x="229167" y="147559"/>
                  <a:pt x="212722" y="147559"/>
                  <a:pt x="209638" y="135226"/>
                </a:cubicBezTo>
                <a:lnTo>
                  <a:pt x="205528" y="121864"/>
                </a:lnTo>
                <a:cubicBezTo>
                  <a:pt x="204500" y="116724"/>
                  <a:pt x="199360" y="114669"/>
                  <a:pt x="194221" y="115696"/>
                </a:cubicBezTo>
                <a:lnTo>
                  <a:pt x="180859" y="118780"/>
                </a:lnTo>
                <a:cubicBezTo>
                  <a:pt x="168526" y="121863"/>
                  <a:pt x="160304" y="107474"/>
                  <a:pt x="168526" y="98224"/>
                </a:cubicBezTo>
                <a:lnTo>
                  <a:pt x="177777" y="87945"/>
                </a:lnTo>
                <a:cubicBezTo>
                  <a:pt x="180859" y="83834"/>
                  <a:pt x="180859" y="78695"/>
                  <a:pt x="177777" y="75612"/>
                </a:cubicBezTo>
                <a:lnTo>
                  <a:pt x="168526" y="65334"/>
                </a:lnTo>
                <a:cubicBezTo>
                  <a:pt x="160304" y="56083"/>
                  <a:pt x="168526" y="41694"/>
                  <a:pt x="180859" y="44777"/>
                </a:cubicBezTo>
                <a:lnTo>
                  <a:pt x="194221" y="47861"/>
                </a:lnTo>
                <a:cubicBezTo>
                  <a:pt x="199360" y="48889"/>
                  <a:pt x="203472" y="45805"/>
                  <a:pt x="205528" y="41694"/>
                </a:cubicBezTo>
                <a:lnTo>
                  <a:pt x="209638" y="28332"/>
                </a:lnTo>
                <a:cubicBezTo>
                  <a:pt x="212722" y="15998"/>
                  <a:pt x="230195" y="15998"/>
                  <a:pt x="233279" y="28332"/>
                </a:cubicBezTo>
                <a:close/>
                <a:moveTo>
                  <a:pt x="71498" y="85897"/>
                </a:moveTo>
                <a:cubicBezTo>
                  <a:pt x="78676" y="85897"/>
                  <a:pt x="84494" y="80078"/>
                  <a:pt x="84494" y="72901"/>
                </a:cubicBezTo>
                <a:cubicBezTo>
                  <a:pt x="84494" y="65723"/>
                  <a:pt x="78676" y="59905"/>
                  <a:pt x="71498" y="59905"/>
                </a:cubicBezTo>
                <a:cubicBezTo>
                  <a:pt x="64321" y="59905"/>
                  <a:pt x="58502" y="65723"/>
                  <a:pt x="58502" y="72901"/>
                </a:cubicBezTo>
                <a:cubicBezTo>
                  <a:pt x="58502" y="80078"/>
                  <a:pt x="64321" y="85897"/>
                  <a:pt x="71498" y="85897"/>
                </a:cubicBezTo>
                <a:close/>
                <a:moveTo>
                  <a:pt x="221458" y="94775"/>
                </a:moveTo>
                <a:cubicBezTo>
                  <a:pt x="228636" y="94775"/>
                  <a:pt x="234455" y="88957"/>
                  <a:pt x="234455" y="81779"/>
                </a:cubicBezTo>
                <a:cubicBezTo>
                  <a:pt x="234455" y="74601"/>
                  <a:pt x="228636" y="68783"/>
                  <a:pt x="221458" y="68783"/>
                </a:cubicBezTo>
                <a:cubicBezTo>
                  <a:pt x="214280" y="68783"/>
                  <a:pt x="208462" y="74601"/>
                  <a:pt x="208462" y="81779"/>
                </a:cubicBezTo>
                <a:cubicBezTo>
                  <a:pt x="208462" y="88957"/>
                  <a:pt x="214280" y="94775"/>
                  <a:pt x="221458" y="94775"/>
                </a:cubicBezTo>
                <a:close/>
              </a:path>
            </a:pathLst>
          </a:custGeom>
          <a:noFill/>
          <a:ln w="1193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8" name="Rounded Rectangle 37"/>
          <p:cNvSpPr/>
          <p:nvPr/>
        </p:nvSpPr>
        <p:spPr>
          <a:xfrm>
            <a:off x="10955666" y="6256868"/>
            <a:ext cx="411878" cy="397602"/>
          </a:xfrm>
          <a:custGeom>
            <a:avLst/>
            <a:gdLst/>
            <a:ahLst/>
            <a:cxnLst/>
            <a:rect l="0" t="0" r="0" b="0"/>
            <a:pathLst>
              <a:path w="274585" h="265068">
                <a:moveTo>
                  <a:pt x="131323" y="265068"/>
                </a:moveTo>
                <a:lnTo>
                  <a:pt x="95507" y="265068"/>
                </a:lnTo>
                <a:cubicBezTo>
                  <a:pt x="95507" y="258474"/>
                  <a:pt x="90162" y="253129"/>
                  <a:pt x="83569" y="253129"/>
                </a:cubicBezTo>
                <a:lnTo>
                  <a:pt x="83569" y="210533"/>
                </a:lnTo>
                <a:cubicBezTo>
                  <a:pt x="83567" y="203719"/>
                  <a:pt x="79718" y="197490"/>
                  <a:pt x="73624" y="194440"/>
                </a:cubicBezTo>
                <a:lnTo>
                  <a:pt x="53723" y="139714"/>
                </a:lnTo>
                <a:lnTo>
                  <a:pt x="33821" y="194440"/>
                </a:lnTo>
                <a:cubicBezTo>
                  <a:pt x="27724" y="197485"/>
                  <a:pt x="23873" y="203717"/>
                  <a:pt x="23876" y="210533"/>
                </a:cubicBezTo>
                <a:lnTo>
                  <a:pt x="23876" y="253129"/>
                </a:lnTo>
                <a:cubicBezTo>
                  <a:pt x="17283" y="253129"/>
                  <a:pt x="11938" y="258474"/>
                  <a:pt x="11938" y="265068"/>
                </a:cubicBezTo>
                <a:lnTo>
                  <a:pt x="0" y="265068"/>
                </a:lnTo>
                <a:moveTo>
                  <a:pt x="179077" y="169560"/>
                </a:moveTo>
                <a:lnTo>
                  <a:pt x="191015" y="169560"/>
                </a:lnTo>
                <a:cubicBezTo>
                  <a:pt x="191015" y="162966"/>
                  <a:pt x="196360" y="157621"/>
                  <a:pt x="202954" y="157621"/>
                </a:cubicBezTo>
                <a:lnTo>
                  <a:pt x="202954" y="132933"/>
                </a:lnTo>
                <a:cubicBezTo>
                  <a:pt x="202951" y="126117"/>
                  <a:pt x="206801" y="119885"/>
                  <a:pt x="212899" y="116840"/>
                </a:cubicBezTo>
                <a:lnTo>
                  <a:pt x="232800" y="62113"/>
                </a:lnTo>
                <a:lnTo>
                  <a:pt x="252702" y="116840"/>
                </a:lnTo>
                <a:cubicBezTo>
                  <a:pt x="258795" y="119890"/>
                  <a:pt x="262644" y="126118"/>
                  <a:pt x="262646" y="132933"/>
                </a:cubicBezTo>
                <a:lnTo>
                  <a:pt x="262646" y="157621"/>
                </a:lnTo>
                <a:cubicBezTo>
                  <a:pt x="269240" y="157621"/>
                  <a:pt x="274585" y="162966"/>
                  <a:pt x="274585" y="169560"/>
                </a:cubicBezTo>
                <a:moveTo>
                  <a:pt x="107446" y="217314"/>
                </a:moveTo>
                <a:lnTo>
                  <a:pt x="107446" y="193437"/>
                </a:lnTo>
                <a:cubicBezTo>
                  <a:pt x="107444" y="186625"/>
                  <a:pt x="111295" y="180397"/>
                  <a:pt x="117391" y="177356"/>
                </a:cubicBezTo>
                <a:lnTo>
                  <a:pt x="131323" y="146507"/>
                </a:lnTo>
                <a:lnTo>
                  <a:pt x="145255" y="177415"/>
                </a:lnTo>
                <a:cubicBezTo>
                  <a:pt x="151347" y="180461"/>
                  <a:pt x="155196" y="186686"/>
                  <a:pt x="155200" y="193497"/>
                </a:cubicBezTo>
                <a:lnTo>
                  <a:pt x="155200" y="211404"/>
                </a:lnTo>
                <a:cubicBezTo>
                  <a:pt x="155200" y="214701"/>
                  <a:pt x="157872" y="217374"/>
                  <a:pt x="161169" y="217374"/>
                </a:cubicBezTo>
                <a:lnTo>
                  <a:pt x="179077" y="217374"/>
                </a:lnTo>
                <a:moveTo>
                  <a:pt x="274585" y="253129"/>
                </a:moveTo>
                <a:lnTo>
                  <a:pt x="274585" y="229252"/>
                </a:lnTo>
                <a:cubicBezTo>
                  <a:pt x="274581" y="222442"/>
                  <a:pt x="270731" y="216217"/>
                  <a:pt x="264640" y="213171"/>
                </a:cubicBezTo>
                <a:lnTo>
                  <a:pt x="250708" y="182322"/>
                </a:lnTo>
                <a:lnTo>
                  <a:pt x="236776" y="213231"/>
                </a:lnTo>
                <a:cubicBezTo>
                  <a:pt x="230680" y="216273"/>
                  <a:pt x="226829" y="222500"/>
                  <a:pt x="226831" y="229312"/>
                </a:cubicBezTo>
                <a:lnTo>
                  <a:pt x="226831" y="247220"/>
                </a:lnTo>
                <a:cubicBezTo>
                  <a:pt x="226831" y="250517"/>
                  <a:pt x="224158" y="253189"/>
                  <a:pt x="220862" y="253189"/>
                </a:cubicBezTo>
                <a:lnTo>
                  <a:pt x="179077" y="253189"/>
                </a:lnTo>
                <a:moveTo>
                  <a:pt x="123109" y="71067"/>
                </a:moveTo>
                <a:cubicBezTo>
                  <a:pt x="120931" y="72807"/>
                  <a:pt x="117838" y="72807"/>
                  <a:pt x="115660" y="71067"/>
                </a:cubicBezTo>
                <a:lnTo>
                  <a:pt x="100736" y="59129"/>
                </a:lnTo>
                <a:cubicBezTo>
                  <a:pt x="93662" y="53467"/>
                  <a:pt x="89542" y="44898"/>
                  <a:pt x="89538" y="35837"/>
                </a:cubicBezTo>
                <a:lnTo>
                  <a:pt x="89538" y="31264"/>
                </a:lnTo>
                <a:cubicBezTo>
                  <a:pt x="89538" y="20779"/>
                  <a:pt x="95040" y="11062"/>
                  <a:pt x="104032" y="5668"/>
                </a:cubicBezTo>
                <a:lnTo>
                  <a:pt x="104032" y="5668"/>
                </a:lnTo>
                <a:cubicBezTo>
                  <a:pt x="113482" y="0"/>
                  <a:pt x="125287" y="0"/>
                  <a:pt x="134737" y="5668"/>
                </a:cubicBezTo>
                <a:lnTo>
                  <a:pt x="134737" y="5668"/>
                </a:lnTo>
                <a:cubicBezTo>
                  <a:pt x="143729" y="11062"/>
                  <a:pt x="149231" y="20779"/>
                  <a:pt x="149231" y="31264"/>
                </a:cubicBezTo>
                <a:lnTo>
                  <a:pt x="149231" y="35837"/>
                </a:lnTo>
                <a:cubicBezTo>
                  <a:pt x="149231" y="44902"/>
                  <a:pt x="145111" y="53477"/>
                  <a:pt x="138032" y="59141"/>
                </a:cubicBezTo>
                <a:close/>
                <a:moveTo>
                  <a:pt x="36555" y="100914"/>
                </a:moveTo>
                <a:cubicBezTo>
                  <a:pt x="34377" y="102653"/>
                  <a:pt x="31284" y="102653"/>
                  <a:pt x="29106" y="100914"/>
                </a:cubicBezTo>
                <a:lnTo>
                  <a:pt x="21644" y="94944"/>
                </a:lnTo>
                <a:cubicBezTo>
                  <a:pt x="17397" y="91547"/>
                  <a:pt x="14924" y="86403"/>
                  <a:pt x="14923" y="80964"/>
                </a:cubicBezTo>
                <a:lnTo>
                  <a:pt x="14923" y="78230"/>
                </a:lnTo>
                <a:cubicBezTo>
                  <a:pt x="14919" y="71937"/>
                  <a:pt x="18218" y="66104"/>
                  <a:pt x="23614" y="62866"/>
                </a:cubicBezTo>
                <a:lnTo>
                  <a:pt x="23614" y="62866"/>
                </a:lnTo>
                <a:cubicBezTo>
                  <a:pt x="29286" y="59461"/>
                  <a:pt x="36374" y="59461"/>
                  <a:pt x="42047" y="62866"/>
                </a:cubicBezTo>
                <a:lnTo>
                  <a:pt x="42047" y="62866"/>
                </a:lnTo>
                <a:cubicBezTo>
                  <a:pt x="47442" y="66104"/>
                  <a:pt x="50742" y="71937"/>
                  <a:pt x="50738" y="78230"/>
                </a:cubicBezTo>
                <a:lnTo>
                  <a:pt x="50738" y="80964"/>
                </a:lnTo>
                <a:cubicBezTo>
                  <a:pt x="50740" y="86407"/>
                  <a:pt x="48267" y="91556"/>
                  <a:pt x="44017" y="94956"/>
                </a:cubicBezTo>
                <a:close/>
                <a:moveTo>
                  <a:pt x="32830" y="115837"/>
                </a:moveTo>
                <a:cubicBezTo>
                  <a:pt x="34479" y="115837"/>
                  <a:pt x="35815" y="117173"/>
                  <a:pt x="35815" y="118821"/>
                </a:cubicBezTo>
                <a:cubicBezTo>
                  <a:pt x="35815" y="120470"/>
                  <a:pt x="34479" y="121806"/>
                  <a:pt x="32830" y="121806"/>
                </a:cubicBezTo>
                <a:cubicBezTo>
                  <a:pt x="31182" y="121806"/>
                  <a:pt x="29846" y="120470"/>
                  <a:pt x="29846" y="118821"/>
                </a:cubicBezTo>
                <a:cubicBezTo>
                  <a:pt x="29846" y="117173"/>
                  <a:pt x="31182" y="115837"/>
                  <a:pt x="32830" y="115837"/>
                </a:cubicBezTo>
                <a:moveTo>
                  <a:pt x="107446" y="97929"/>
                </a:moveTo>
                <a:cubicBezTo>
                  <a:pt x="107446" y="104522"/>
                  <a:pt x="112791" y="109867"/>
                  <a:pt x="119384" y="109867"/>
                </a:cubicBezTo>
                <a:cubicBezTo>
                  <a:pt x="125978" y="109867"/>
                  <a:pt x="131323" y="104522"/>
                  <a:pt x="131323" y="97929"/>
                </a:cubicBezTo>
                <a:cubicBezTo>
                  <a:pt x="131323" y="91335"/>
                  <a:pt x="125978" y="85990"/>
                  <a:pt x="119384" y="85990"/>
                </a:cubicBezTo>
                <a:cubicBezTo>
                  <a:pt x="112791" y="85990"/>
                  <a:pt x="107446" y="91335"/>
                  <a:pt x="107446" y="97929"/>
                </a:cubicBezTo>
                <a:close/>
              </a:path>
            </a:pathLst>
          </a:custGeom>
          <a:noFill/>
          <a:ln w="1193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9" name="TextBox 38"/>
          <p:cNvSpPr txBox="1"/>
          <p:nvPr/>
        </p:nvSpPr>
        <p:spPr>
          <a:xfrm>
            <a:off x="5074562" y="4665961"/>
            <a:ext cx="1383276" cy="2865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2800" b="1" dirty="0">
                <a:solidFill>
                  <a:srgbClr val="FFFFFF"/>
                </a:solidFill>
                <a:latin typeface="Funnel Display Regular"/>
              </a:rPr>
              <a:t>AI Detection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3655279" y="6385103"/>
            <a:ext cx="2802560" cy="429783"/>
            <a:chOff x="455652" y="3772563"/>
            <a:chExt cx="1868373" cy="286522"/>
          </a:xfrm>
        </p:grpSpPr>
        <p:sp>
          <p:nvSpPr>
            <p:cNvPr id="40" name="TextBox 39"/>
            <p:cNvSpPr txBox="1"/>
            <p:nvPr/>
          </p:nvSpPr>
          <p:spPr>
            <a:xfrm>
              <a:off x="455652" y="3772563"/>
              <a:ext cx="1868373" cy="1432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2000" dirty="0">
                  <a:solidFill>
                    <a:srgbClr val="FFFFFF"/>
                  </a:solidFill>
                  <a:latin typeface="Funnel Display 300"/>
                </a:rPr>
                <a:t>Clean and synchronize data for AI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55652" y="3915824"/>
              <a:ext cx="1868373" cy="1432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2000" dirty="0">
                  <a:solidFill>
                    <a:srgbClr val="FFFFFF"/>
                  </a:solidFill>
                  <a:latin typeface="Funnel Display 300"/>
                </a:rPr>
                <a:t>analysis.</a:t>
              </a: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8929108" y="3818327"/>
            <a:ext cx="416354" cy="416358"/>
          </a:xfrm>
          <a:custGeom>
            <a:avLst/>
            <a:gdLst/>
            <a:ahLst/>
            <a:cxnLst/>
            <a:rect l="0" t="0" r="0" b="0"/>
            <a:pathLst>
              <a:path w="277569" h="277572">
                <a:moveTo>
                  <a:pt x="227428" y="79383"/>
                </a:moveTo>
                <a:cubicBezTo>
                  <a:pt x="227428" y="79383"/>
                  <a:pt x="202356" y="55506"/>
                  <a:pt x="165346" y="55506"/>
                </a:cubicBezTo>
                <a:cubicBezTo>
                  <a:pt x="128337" y="55506"/>
                  <a:pt x="103267" y="79383"/>
                  <a:pt x="103267" y="79383"/>
                </a:cubicBezTo>
                <a:cubicBezTo>
                  <a:pt x="103267" y="79383"/>
                  <a:pt x="127143" y="103260"/>
                  <a:pt x="165346" y="103260"/>
                </a:cubicBezTo>
                <a:cubicBezTo>
                  <a:pt x="202356" y="103260"/>
                  <a:pt x="227428" y="79383"/>
                  <a:pt x="227428" y="79383"/>
                </a:cubicBezTo>
                <a:close/>
                <a:moveTo>
                  <a:pt x="163574" y="160177"/>
                </a:moveTo>
                <a:cubicBezTo>
                  <a:pt x="130465" y="160177"/>
                  <a:pt x="103267" y="132980"/>
                  <a:pt x="103267" y="98688"/>
                </a:cubicBezTo>
                <a:lnTo>
                  <a:pt x="103267" y="79385"/>
                </a:lnTo>
                <a:cubicBezTo>
                  <a:pt x="103267" y="39988"/>
                  <a:pt x="131919" y="8948"/>
                  <a:pt x="165346" y="8948"/>
                </a:cubicBezTo>
                <a:cubicBezTo>
                  <a:pt x="199968" y="8948"/>
                  <a:pt x="227428" y="39988"/>
                  <a:pt x="227428" y="79385"/>
                </a:cubicBezTo>
                <a:lnTo>
                  <a:pt x="227427" y="98688"/>
                </a:lnTo>
                <a:cubicBezTo>
                  <a:pt x="227427" y="132980"/>
                  <a:pt x="200229" y="160177"/>
                  <a:pt x="167120" y="160177"/>
                </a:cubicBezTo>
                <a:moveTo>
                  <a:pt x="165348" y="8948"/>
                </a:moveTo>
                <a:lnTo>
                  <a:pt x="165348" y="55508"/>
                </a:lnTo>
                <a:moveTo>
                  <a:pt x="0" y="0"/>
                </a:moveTo>
                <a:moveTo>
                  <a:pt x="145052" y="185647"/>
                </a:moveTo>
                <a:lnTo>
                  <a:pt x="168929" y="207136"/>
                </a:lnTo>
                <a:lnTo>
                  <a:pt x="192806" y="185647"/>
                </a:lnTo>
                <a:lnTo>
                  <a:pt x="252499" y="185647"/>
                </a:lnTo>
                <a:lnTo>
                  <a:pt x="234591" y="213105"/>
                </a:lnTo>
                <a:cubicBezTo>
                  <a:pt x="256080" y="228625"/>
                  <a:pt x="271600" y="251306"/>
                  <a:pt x="277569" y="277571"/>
                </a:cubicBezTo>
                <a:moveTo>
                  <a:pt x="62677" y="263247"/>
                </a:moveTo>
                <a:cubicBezTo>
                  <a:pt x="92348" y="263247"/>
                  <a:pt x="116401" y="239194"/>
                  <a:pt x="116401" y="209524"/>
                </a:cubicBezTo>
                <a:cubicBezTo>
                  <a:pt x="116401" y="179853"/>
                  <a:pt x="92348" y="155800"/>
                  <a:pt x="62677" y="155800"/>
                </a:cubicBezTo>
                <a:cubicBezTo>
                  <a:pt x="33007" y="155800"/>
                  <a:pt x="8954" y="179853"/>
                  <a:pt x="8954" y="209524"/>
                </a:cubicBezTo>
                <a:cubicBezTo>
                  <a:pt x="8954" y="239194"/>
                  <a:pt x="33007" y="263247"/>
                  <a:pt x="62677" y="263247"/>
                </a:cubicBezTo>
                <a:close/>
                <a:moveTo>
                  <a:pt x="0" y="0"/>
                </a:moveTo>
                <a:moveTo>
                  <a:pt x="130727" y="277572"/>
                </a:moveTo>
                <a:lnTo>
                  <a:pt x="101247" y="246913"/>
                </a:lnTo>
                <a:moveTo>
                  <a:pt x="165346" y="262244"/>
                </a:moveTo>
                <a:cubicBezTo>
                  <a:pt x="158774" y="262244"/>
                  <a:pt x="153446" y="256916"/>
                  <a:pt x="153446" y="250344"/>
                </a:cubicBezTo>
                <a:cubicBezTo>
                  <a:pt x="153446" y="243770"/>
                  <a:pt x="158774" y="238443"/>
                  <a:pt x="165346" y="238443"/>
                </a:cubicBezTo>
                <a:cubicBezTo>
                  <a:pt x="171920" y="238443"/>
                  <a:pt x="177247" y="243770"/>
                  <a:pt x="177247" y="250344"/>
                </a:cubicBezTo>
                <a:cubicBezTo>
                  <a:pt x="177247" y="256916"/>
                  <a:pt x="171920" y="262244"/>
                  <a:pt x="165346" y="262244"/>
                </a:cubicBezTo>
                <a:close/>
              </a:path>
            </a:pathLst>
          </a:custGeom>
          <a:noFill/>
          <a:ln w="1193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grpSp>
        <p:nvGrpSpPr>
          <p:cNvPr id="46" name="Group 45"/>
          <p:cNvGrpSpPr/>
          <p:nvPr/>
        </p:nvGrpSpPr>
        <p:grpSpPr>
          <a:xfrm>
            <a:off x="7744958" y="3055568"/>
            <a:ext cx="2784653" cy="429783"/>
            <a:chOff x="3186582" y="1544044"/>
            <a:chExt cx="1856435" cy="286522"/>
          </a:xfrm>
        </p:grpSpPr>
        <p:sp>
          <p:nvSpPr>
            <p:cNvPr id="44" name="TextBox 43"/>
            <p:cNvSpPr txBox="1"/>
            <p:nvPr/>
          </p:nvSpPr>
          <p:spPr>
            <a:xfrm>
              <a:off x="3186582" y="1544044"/>
              <a:ext cx="1856435" cy="1432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2000" dirty="0">
                  <a:solidFill>
                    <a:srgbClr val="FFFFFF"/>
                  </a:solidFill>
                  <a:latin typeface="Funnel Display 300"/>
                </a:rPr>
                <a:t>Map spills, correlate with vessels</a:t>
              </a:r>
              <a:r>
                <a:rPr sz="1350" dirty="0">
                  <a:solidFill>
                    <a:srgbClr val="FFFFFF"/>
                  </a:solidFill>
                  <a:latin typeface="Funnel Display 300"/>
                </a:rPr>
                <a:t>,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86582" y="1687305"/>
              <a:ext cx="1856435" cy="1432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2000" dirty="0">
                  <a:solidFill>
                    <a:srgbClr val="FFFFFF"/>
                  </a:solidFill>
                  <a:latin typeface="Funnel Display 300"/>
                </a:rPr>
                <a:t>and predict drift.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11830160" y="6528365"/>
            <a:ext cx="2562299" cy="644676"/>
            <a:chOff x="5905573" y="3868071"/>
            <a:chExt cx="1708199" cy="429784"/>
          </a:xfrm>
        </p:grpSpPr>
        <p:sp>
          <p:nvSpPr>
            <p:cNvPr id="47" name="TextBox 46"/>
            <p:cNvSpPr txBox="1"/>
            <p:nvPr/>
          </p:nvSpPr>
          <p:spPr>
            <a:xfrm>
              <a:off x="5905573" y="3868071"/>
              <a:ext cx="1708199" cy="1432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000" dirty="0">
                  <a:solidFill>
                    <a:srgbClr val="FFFFFF"/>
                  </a:solidFill>
                  <a:latin typeface="Funnel Display 300"/>
                </a:rPr>
                <a:t>Generate spill maps, identify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905573" y="4011332"/>
              <a:ext cx="1708199" cy="1432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000" dirty="0">
                  <a:solidFill>
                    <a:srgbClr val="FFFFFF"/>
                  </a:solidFill>
                  <a:latin typeface="Funnel Display 300"/>
                </a:rPr>
                <a:t>potential sources, and provide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905573" y="4154594"/>
              <a:ext cx="1708199" cy="1432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000" dirty="0">
                  <a:solidFill>
                    <a:srgbClr val="FFFFFF"/>
                  </a:solidFill>
                  <a:latin typeface="Funnel Display 300"/>
                </a:rPr>
                <a:t>alerts.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4952753" y="7244674"/>
            <a:ext cx="1505085" cy="2865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2800" b="1" dirty="0">
                <a:solidFill>
                  <a:srgbClr val="FFFFFF"/>
                </a:solidFill>
                <a:latin typeface="Funnel Display Regular"/>
              </a:rPr>
              <a:t>Data Sources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1590" y="2612540"/>
            <a:ext cx="2564817" cy="2865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Funnel Display 600"/>
              </a:rPr>
              <a:t>Intelligence &amp; Analysis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20456" y="7403097"/>
            <a:ext cx="411878" cy="398721"/>
          </a:xfrm>
          <a:custGeom>
            <a:avLst/>
            <a:gdLst/>
            <a:ahLst/>
            <a:cxnLst/>
            <a:rect l="0" t="0" r="0" b="0"/>
            <a:pathLst>
              <a:path w="274585" h="265814">
                <a:moveTo>
                  <a:pt x="47753" y="265814"/>
                </a:moveTo>
                <a:lnTo>
                  <a:pt x="47753" y="194183"/>
                </a:lnTo>
                <a:cubicBezTo>
                  <a:pt x="47753" y="187590"/>
                  <a:pt x="53099" y="182245"/>
                  <a:pt x="59692" y="182245"/>
                </a:cubicBezTo>
                <a:lnTo>
                  <a:pt x="179077" y="182245"/>
                </a:lnTo>
                <a:cubicBezTo>
                  <a:pt x="185670" y="182245"/>
                  <a:pt x="191015" y="187590"/>
                  <a:pt x="191015" y="194183"/>
                </a:cubicBezTo>
                <a:lnTo>
                  <a:pt x="191015" y="265814"/>
                </a:lnTo>
                <a:moveTo>
                  <a:pt x="16988" y="141379"/>
                </a:moveTo>
                <a:lnTo>
                  <a:pt x="156119" y="2248"/>
                </a:lnTo>
                <a:cubicBezTo>
                  <a:pt x="157921" y="465"/>
                  <a:pt x="160647" y="0"/>
                  <a:pt x="162938" y="1084"/>
                </a:cubicBezTo>
                <a:cubicBezTo>
                  <a:pt x="165230" y="2168"/>
                  <a:pt x="166598" y="4571"/>
                  <a:pt x="166362" y="7095"/>
                </a:cubicBezTo>
                <a:cubicBezTo>
                  <a:pt x="158806" y="83569"/>
                  <a:pt x="98309" y="144072"/>
                  <a:pt x="21835" y="151634"/>
                </a:cubicBezTo>
                <a:cubicBezTo>
                  <a:pt x="19311" y="151862"/>
                  <a:pt x="16913" y="150490"/>
                  <a:pt x="15831" y="148199"/>
                </a:cubicBezTo>
                <a:cubicBezTo>
                  <a:pt x="14748" y="145908"/>
                  <a:pt x="15210" y="143185"/>
                  <a:pt x="16988" y="141379"/>
                </a:cubicBezTo>
                <a:close/>
                <a:moveTo>
                  <a:pt x="119384" y="146429"/>
                </a:moveTo>
                <a:lnTo>
                  <a:pt x="95507" y="182245"/>
                </a:lnTo>
                <a:moveTo>
                  <a:pt x="155200" y="182245"/>
                </a:moveTo>
                <a:lnTo>
                  <a:pt x="155200" y="126181"/>
                </a:lnTo>
                <a:moveTo>
                  <a:pt x="0" y="265814"/>
                </a:moveTo>
                <a:lnTo>
                  <a:pt x="274585" y="265814"/>
                </a:lnTo>
                <a:moveTo>
                  <a:pt x="137292" y="265814"/>
                </a:moveTo>
                <a:lnTo>
                  <a:pt x="137292" y="218060"/>
                </a:lnTo>
                <a:lnTo>
                  <a:pt x="101477" y="218060"/>
                </a:lnTo>
                <a:lnTo>
                  <a:pt x="101477" y="265814"/>
                </a:lnTo>
                <a:moveTo>
                  <a:pt x="61614" y="96753"/>
                </a:moveTo>
                <a:lnTo>
                  <a:pt x="54451" y="60806"/>
                </a:lnTo>
                <a:cubicBezTo>
                  <a:pt x="53680" y="56905"/>
                  <a:pt x="54902" y="52877"/>
                  <a:pt x="57710" y="50062"/>
                </a:cubicBezTo>
                <a:lnTo>
                  <a:pt x="65542" y="42182"/>
                </a:lnTo>
                <a:cubicBezTo>
                  <a:pt x="68355" y="39370"/>
                  <a:pt x="72384" y="38143"/>
                  <a:pt x="76286" y="38911"/>
                </a:cubicBezTo>
                <a:lnTo>
                  <a:pt x="112233" y="46074"/>
                </a:lnTo>
                <a:moveTo>
                  <a:pt x="86745" y="130766"/>
                </a:moveTo>
                <a:cubicBezTo>
                  <a:pt x="96777" y="143250"/>
                  <a:pt x="113063" y="148901"/>
                  <a:pt x="128673" y="145315"/>
                </a:cubicBezTo>
                <a:cubicBezTo>
                  <a:pt x="144282" y="141728"/>
                  <a:pt x="156468" y="129535"/>
                  <a:pt x="160045" y="113924"/>
                </a:cubicBezTo>
                <a:cubicBezTo>
                  <a:pt x="163622" y="98312"/>
                  <a:pt x="157961" y="82030"/>
                  <a:pt x="145470" y="72005"/>
                </a:cubicBezTo>
                <a:moveTo>
                  <a:pt x="191015" y="265814"/>
                </a:moveTo>
                <a:lnTo>
                  <a:pt x="191015" y="166653"/>
                </a:lnTo>
                <a:cubicBezTo>
                  <a:pt x="191017" y="164735"/>
                  <a:pt x="191940" y="162935"/>
                  <a:pt x="193496" y="161814"/>
                </a:cubicBezTo>
                <a:cubicBezTo>
                  <a:pt x="195052" y="160693"/>
                  <a:pt x="197051" y="160388"/>
                  <a:pt x="198871" y="160994"/>
                </a:cubicBezTo>
                <a:lnTo>
                  <a:pt x="258563" y="180884"/>
                </a:lnTo>
                <a:cubicBezTo>
                  <a:pt x="261004" y="181697"/>
                  <a:pt x="262650" y="183982"/>
                  <a:pt x="262646" y="186554"/>
                </a:cubicBezTo>
                <a:lnTo>
                  <a:pt x="262646" y="265814"/>
                </a:lnTo>
                <a:moveTo>
                  <a:pt x="250708" y="178269"/>
                </a:moveTo>
                <a:lnTo>
                  <a:pt x="250708" y="134491"/>
                </a:lnTo>
                <a:moveTo>
                  <a:pt x="226831" y="146429"/>
                </a:moveTo>
                <a:lnTo>
                  <a:pt x="226831" y="170306"/>
                </a:lnTo>
                <a:moveTo>
                  <a:pt x="35815" y="21075"/>
                </a:moveTo>
                <a:lnTo>
                  <a:pt x="61232" y="46492"/>
                </a:lnTo>
              </a:path>
            </a:pathLst>
          </a:custGeom>
          <a:noFill/>
          <a:ln w="1193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700"/>
          </a:p>
        </p:txBody>
      </p:sp>
      <p:grpSp>
        <p:nvGrpSpPr>
          <p:cNvPr id="57" name="Group 56"/>
          <p:cNvGrpSpPr/>
          <p:nvPr/>
        </p:nvGrpSpPr>
        <p:grpSpPr>
          <a:xfrm>
            <a:off x="3697063" y="7674459"/>
            <a:ext cx="2760776" cy="644676"/>
            <a:chOff x="483508" y="4632134"/>
            <a:chExt cx="1840517" cy="429784"/>
          </a:xfrm>
        </p:grpSpPr>
        <p:sp>
          <p:nvSpPr>
            <p:cNvPr id="54" name="TextBox 53"/>
            <p:cNvSpPr txBox="1"/>
            <p:nvPr/>
          </p:nvSpPr>
          <p:spPr>
            <a:xfrm>
              <a:off x="483508" y="4632134"/>
              <a:ext cx="1840517" cy="1432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2000" dirty="0">
                  <a:solidFill>
                    <a:srgbClr val="FFFFFF"/>
                  </a:solidFill>
                  <a:latin typeface="Funnel Display 300"/>
                </a:rPr>
                <a:t>Gather diverse data like </a:t>
              </a:r>
              <a:r>
                <a:rPr lang="en-US" sz="2000" dirty="0">
                  <a:solidFill>
                    <a:srgbClr val="FFFFFF"/>
                  </a:solidFill>
                  <a:latin typeface="Funnel Display 300"/>
                </a:rPr>
                <a:t>SAR </a:t>
              </a:r>
              <a:r>
                <a:rPr sz="2000" dirty="0">
                  <a:solidFill>
                    <a:srgbClr val="FFFFFF"/>
                  </a:solidFill>
                  <a:latin typeface="Funnel Display 300"/>
                </a:rPr>
                <a:t>satellite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83508" y="4775395"/>
              <a:ext cx="1840517" cy="1432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2000" dirty="0">
                  <a:solidFill>
                    <a:srgbClr val="FFFFFF"/>
                  </a:solidFill>
                  <a:latin typeface="Funnel Display 300"/>
                </a:rPr>
                <a:t>images, </a:t>
              </a:r>
              <a:r>
                <a:rPr lang="en-US" sz="2000" dirty="0" err="1">
                  <a:solidFill>
                    <a:srgbClr val="FFFFFF"/>
                  </a:solidFill>
                  <a:latin typeface="Funnel Display 300"/>
                </a:rPr>
                <a:t>AIS</a:t>
              </a:r>
              <a:r>
                <a:rPr sz="2000" dirty="0" err="1">
                  <a:solidFill>
                    <a:srgbClr val="FFFFFF"/>
                  </a:solidFill>
                  <a:latin typeface="Funnel Display 300"/>
                </a:rPr>
                <a:t>vessel</a:t>
              </a:r>
              <a:r>
                <a:rPr sz="2000" dirty="0">
                  <a:solidFill>
                    <a:srgbClr val="FFFFFF"/>
                  </a:solidFill>
                  <a:latin typeface="Funnel Display 300"/>
                </a:rPr>
                <a:t> data, and weather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83508" y="4918657"/>
              <a:ext cx="1840517" cy="1432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2000" dirty="0">
                  <a:solidFill>
                    <a:srgbClr val="FFFFFF"/>
                  </a:solidFill>
                  <a:latin typeface="Funnel Display 300"/>
                </a:rPr>
                <a:t>information.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11830160" y="6098579"/>
            <a:ext cx="822633" cy="2865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Funnel Display 600"/>
              </a:rPr>
              <a:t>Output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C868B639-3E43-48C7-A578-914A9F5DB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0" y="505495"/>
            <a:ext cx="1883827" cy="1329044"/>
          </a:xfrm>
          <a:prstGeom prst="rect">
            <a:avLst/>
          </a:prstGeom>
        </p:spPr>
      </p:pic>
      <p:sp>
        <p:nvSpPr>
          <p:cNvPr id="64" name="Freeform 2">
            <a:extLst>
              <a:ext uri="{FF2B5EF4-FFF2-40B4-BE49-F238E27FC236}">
                <a16:creationId xmlns:a16="http://schemas.microsoft.com/office/drawing/2014/main" id="{2C9B5CE8-B9B3-4550-ADDA-FF12D19A92EC}"/>
              </a:ext>
            </a:extLst>
          </p:cNvPr>
          <p:cNvSpPr/>
          <p:nvPr/>
        </p:nvSpPr>
        <p:spPr>
          <a:xfrm>
            <a:off x="762000" y="437856"/>
            <a:ext cx="499539" cy="503199"/>
          </a:xfrm>
          <a:custGeom>
            <a:avLst/>
            <a:gdLst/>
            <a:ahLst/>
            <a:cxnLst/>
            <a:rect l="l" t="t" r="r" b="b"/>
            <a:pathLst>
              <a:path w="499539" h="50319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5" name="TextBox 40">
            <a:extLst>
              <a:ext uri="{FF2B5EF4-FFF2-40B4-BE49-F238E27FC236}">
                <a16:creationId xmlns:a16="http://schemas.microsoft.com/office/drawing/2014/main" id="{A27E7925-C709-44A8-B8F6-2D816A1DD96D}"/>
              </a:ext>
            </a:extLst>
          </p:cNvPr>
          <p:cNvSpPr txBox="1"/>
          <p:nvPr/>
        </p:nvSpPr>
        <p:spPr>
          <a:xfrm>
            <a:off x="1420868" y="687653"/>
            <a:ext cx="1302079" cy="31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576" b="1" spc="-4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NovaX</a:t>
            </a:r>
            <a:endParaRPr lang="en-US" sz="2576" b="1" spc="-4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69" name="TextBox 28">
            <a:extLst>
              <a:ext uri="{FF2B5EF4-FFF2-40B4-BE49-F238E27FC236}">
                <a16:creationId xmlns:a16="http://schemas.microsoft.com/office/drawing/2014/main" id="{59A375DF-558C-4BEE-AC5A-0B23614A2369}"/>
              </a:ext>
            </a:extLst>
          </p:cNvPr>
          <p:cNvSpPr txBox="1"/>
          <p:nvPr/>
        </p:nvSpPr>
        <p:spPr>
          <a:xfrm>
            <a:off x="437616" y="1584391"/>
            <a:ext cx="9070718" cy="193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53"/>
              </a:lnSpc>
            </a:pPr>
            <a:r>
              <a:rPr lang="en-US" sz="7166" b="1" spc="-300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Architecture and implementation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577" y="845799"/>
            <a:ext cx="499539" cy="503199"/>
          </a:xfrm>
          <a:custGeom>
            <a:avLst/>
            <a:gdLst/>
            <a:ahLst/>
            <a:cxnLst/>
            <a:rect l="l" t="t" r="r" b="b"/>
            <a:pathLst>
              <a:path w="499539" h="50319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556754" y="2571118"/>
            <a:ext cx="11426446" cy="7220582"/>
            <a:chOff x="0" y="0"/>
            <a:chExt cx="1834320" cy="17502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34320" cy="1750276"/>
            </a:xfrm>
            <a:custGeom>
              <a:avLst/>
              <a:gdLst/>
              <a:ahLst/>
              <a:cxnLst/>
              <a:rect l="l" t="t" r="r" b="b"/>
              <a:pathLst>
                <a:path w="1834320" h="1750276">
                  <a:moveTo>
                    <a:pt x="56691" y="0"/>
                  </a:moveTo>
                  <a:lnTo>
                    <a:pt x="1777629" y="0"/>
                  </a:lnTo>
                  <a:cubicBezTo>
                    <a:pt x="1808939" y="0"/>
                    <a:pt x="1834320" y="25382"/>
                    <a:pt x="1834320" y="56691"/>
                  </a:cubicBezTo>
                  <a:lnTo>
                    <a:pt x="1834320" y="1693585"/>
                  </a:lnTo>
                  <a:cubicBezTo>
                    <a:pt x="1834320" y="1708620"/>
                    <a:pt x="1828348" y="1723040"/>
                    <a:pt x="1817716" y="1733672"/>
                  </a:cubicBezTo>
                  <a:cubicBezTo>
                    <a:pt x="1807084" y="1744303"/>
                    <a:pt x="1792664" y="1750276"/>
                    <a:pt x="1777629" y="1750276"/>
                  </a:cubicBezTo>
                  <a:lnTo>
                    <a:pt x="56691" y="1750276"/>
                  </a:lnTo>
                  <a:cubicBezTo>
                    <a:pt x="41656" y="1750276"/>
                    <a:pt x="27236" y="1744303"/>
                    <a:pt x="16605" y="1733672"/>
                  </a:cubicBezTo>
                  <a:cubicBezTo>
                    <a:pt x="5973" y="1723040"/>
                    <a:pt x="0" y="1708620"/>
                    <a:pt x="0" y="1693585"/>
                  </a:cubicBezTo>
                  <a:lnTo>
                    <a:pt x="0" y="56691"/>
                  </a:lnTo>
                  <a:cubicBezTo>
                    <a:pt x="0" y="41656"/>
                    <a:pt x="5973" y="27236"/>
                    <a:pt x="16605" y="16605"/>
                  </a:cubicBezTo>
                  <a:cubicBezTo>
                    <a:pt x="27236" y="5973"/>
                    <a:pt x="41656" y="0"/>
                    <a:pt x="56691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834320" cy="17312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556754" y="2614046"/>
            <a:ext cx="11578846" cy="7025254"/>
            <a:chOff x="0" y="0"/>
            <a:chExt cx="1417549" cy="18396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17549" cy="183966"/>
            </a:xfrm>
            <a:custGeom>
              <a:avLst/>
              <a:gdLst/>
              <a:ahLst/>
              <a:cxnLst/>
              <a:rect l="l" t="t" r="r" b="b"/>
              <a:pathLst>
                <a:path w="1417549" h="183966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795032" y="930452"/>
            <a:ext cx="1302079" cy="31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576" b="1" spc="-4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NovaX</a:t>
            </a:r>
            <a:endParaRPr lang="en-US" sz="2576" b="1" spc="-4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287132" y="2411170"/>
            <a:ext cx="5036482" cy="1524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7"/>
              </a:lnSpc>
            </a:pPr>
            <a:r>
              <a:rPr lang="en-US" sz="5690" b="1" spc="-238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Feasability</a:t>
            </a:r>
            <a:r>
              <a:rPr lang="en-US" sz="5690" b="1" spc="-238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and Viability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34200" y="3594409"/>
            <a:ext cx="10363200" cy="5064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Technical:</a:t>
            </a:r>
            <a:r>
              <a:rPr lang="en-IN" sz="2800" dirty="0">
                <a:solidFill>
                  <a:schemeClr val="bg1"/>
                </a:solidFill>
              </a:rPr>
              <a:t> Uses proven AI, satellite, AIS, GIS and cloud technologies. 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Data:</a:t>
            </a:r>
            <a:r>
              <a:rPr lang="en-IN" sz="2800" dirty="0">
                <a:solidFill>
                  <a:schemeClr val="bg1"/>
                </a:solidFill>
              </a:rPr>
              <a:t> Satellite, AIS, weather and ocean datasets are accessible for development. 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Cost:</a:t>
            </a:r>
            <a:r>
              <a:rPr lang="en-IN" sz="2800" dirty="0">
                <a:solidFill>
                  <a:schemeClr val="bg1"/>
                </a:solidFill>
              </a:rPr>
              <a:t> Software-first approach reduces dependence on expensive physical monitoring. 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Operational:</a:t>
            </a:r>
            <a:r>
              <a:rPr lang="en-IN" sz="2800" dirty="0">
                <a:solidFill>
                  <a:schemeClr val="bg1"/>
                </a:solidFill>
              </a:rPr>
              <a:t> Automates spill detection, source analysis and risk assessment. 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Scalable:</a:t>
            </a:r>
            <a:r>
              <a:rPr lang="en-IN" sz="2800" dirty="0">
                <a:solidFill>
                  <a:schemeClr val="bg1"/>
                </a:solidFill>
              </a:rPr>
              <a:t> Can expand from local monitoring to large-scale marine surveillance. 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Impact:</a:t>
            </a:r>
            <a:r>
              <a:rPr lang="en-IN" sz="2800" dirty="0">
                <a:solidFill>
                  <a:schemeClr val="bg1"/>
                </a:solidFill>
              </a:rPr>
              <a:t> Enables faster detection, better source tracing and earlier environmental response. </a:t>
            </a:r>
          </a:p>
          <a:p>
            <a:pPr algn="l">
              <a:lnSpc>
                <a:spcPts val="2506"/>
              </a:lnSpc>
            </a:pPr>
            <a:endParaRPr lang="en-US" sz="2400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grpSp>
        <p:nvGrpSpPr>
          <p:cNvPr id="36" name="Group 36"/>
          <p:cNvGrpSpPr/>
          <p:nvPr/>
        </p:nvGrpSpPr>
        <p:grpSpPr>
          <a:xfrm rot="-4011154">
            <a:off x="13539775" y="1196864"/>
            <a:ext cx="17403374" cy="18180272"/>
            <a:chOff x="0" y="0"/>
            <a:chExt cx="4583605" cy="47882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583605" cy="4788220"/>
            </a:xfrm>
            <a:custGeom>
              <a:avLst/>
              <a:gdLst/>
              <a:ahLst/>
              <a:cxnLst/>
              <a:rect l="l" t="t" r="r" b="b"/>
              <a:pathLst>
                <a:path w="4583605" h="4788220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1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38" name="TextBox 38"/>
            <p:cNvSpPr txBox="1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34610EE9-A666-4992-A994-FA027B7BE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0" y="505495"/>
            <a:ext cx="1883827" cy="13290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2C9C7-DD2E-4B4E-A9D2-FB34CA544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6176"/>
            <a:ext cx="18288000" cy="10287000"/>
          </a:xfrm>
          <a:prstGeom prst="rect">
            <a:avLst/>
          </a:prstGeom>
        </p:spPr>
      </p:pic>
      <p:sp>
        <p:nvSpPr>
          <p:cNvPr id="3" name="TextBox 15">
            <a:extLst>
              <a:ext uri="{FF2B5EF4-FFF2-40B4-BE49-F238E27FC236}">
                <a16:creationId xmlns:a16="http://schemas.microsoft.com/office/drawing/2014/main" id="{C3E050FC-4FA0-4CE2-A862-902C96BCF37C}"/>
              </a:ext>
            </a:extLst>
          </p:cNvPr>
          <p:cNvSpPr txBox="1"/>
          <p:nvPr/>
        </p:nvSpPr>
        <p:spPr>
          <a:xfrm>
            <a:off x="3733800" y="1302617"/>
            <a:ext cx="7014041" cy="767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17"/>
              </a:lnSpc>
            </a:pPr>
            <a:r>
              <a:rPr lang="en-US" sz="5690" b="1" spc="-238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Impact and benefits</a:t>
            </a: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57C515E6-617B-49F6-801D-037EEB48E3C5}"/>
              </a:ext>
            </a:extLst>
          </p:cNvPr>
          <p:cNvGrpSpPr/>
          <p:nvPr/>
        </p:nvGrpSpPr>
        <p:grpSpPr>
          <a:xfrm rot="16200000">
            <a:off x="10238739" y="-2352039"/>
            <a:ext cx="5506721" cy="10591800"/>
            <a:chOff x="0" y="0"/>
            <a:chExt cx="2285997" cy="1139766"/>
          </a:xfrm>
        </p:grpSpPr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984C8FDC-F5E5-4E4C-A446-CBFEDA118883}"/>
                </a:ext>
              </a:extLst>
            </p:cNvPr>
            <p:cNvSpPr/>
            <p:nvPr/>
          </p:nvSpPr>
          <p:spPr>
            <a:xfrm>
              <a:off x="0" y="0"/>
              <a:ext cx="2285997" cy="1139766"/>
            </a:xfrm>
            <a:custGeom>
              <a:avLst/>
              <a:gdLst/>
              <a:ahLst/>
              <a:cxnLst/>
              <a:rect l="l" t="t" r="r" b="b"/>
              <a:pathLst>
                <a:path w="2285997" h="1139766">
                  <a:moveTo>
                    <a:pt x="24975" y="0"/>
                  </a:moveTo>
                  <a:lnTo>
                    <a:pt x="2261022" y="0"/>
                  </a:lnTo>
                  <a:cubicBezTo>
                    <a:pt x="2267646" y="0"/>
                    <a:pt x="2273998" y="2631"/>
                    <a:pt x="2278682" y="7315"/>
                  </a:cubicBezTo>
                  <a:cubicBezTo>
                    <a:pt x="2283366" y="11999"/>
                    <a:pt x="2285997" y="18351"/>
                    <a:pt x="2285997" y="24975"/>
                  </a:cubicBezTo>
                  <a:lnTo>
                    <a:pt x="2285997" y="1114791"/>
                  </a:lnTo>
                  <a:cubicBezTo>
                    <a:pt x="2285997" y="1121414"/>
                    <a:pt x="2283366" y="1127767"/>
                    <a:pt x="2278682" y="1132451"/>
                  </a:cubicBezTo>
                  <a:cubicBezTo>
                    <a:pt x="2273998" y="1137134"/>
                    <a:pt x="2267646" y="1139766"/>
                    <a:pt x="2261022" y="1139766"/>
                  </a:cubicBezTo>
                  <a:lnTo>
                    <a:pt x="24975" y="1139766"/>
                  </a:lnTo>
                  <a:cubicBezTo>
                    <a:pt x="18351" y="1139766"/>
                    <a:pt x="11999" y="1137134"/>
                    <a:pt x="7315" y="1132451"/>
                  </a:cubicBezTo>
                  <a:cubicBezTo>
                    <a:pt x="2631" y="1127767"/>
                    <a:pt x="0" y="1121414"/>
                    <a:pt x="0" y="1114791"/>
                  </a:cubicBezTo>
                  <a:lnTo>
                    <a:pt x="0" y="24975"/>
                  </a:lnTo>
                  <a:cubicBezTo>
                    <a:pt x="0" y="18351"/>
                    <a:pt x="2631" y="11999"/>
                    <a:pt x="7315" y="7315"/>
                  </a:cubicBezTo>
                  <a:cubicBezTo>
                    <a:pt x="11999" y="2631"/>
                    <a:pt x="18351" y="0"/>
                    <a:pt x="2497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94500"/>
                  </a:srgbClr>
                </a:gs>
              </a:gsLst>
              <a:lin ang="5400000"/>
            </a:gradFill>
          </p:spPr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D89BA21E-ADED-4574-BABE-3E8B88101641}"/>
                </a:ext>
              </a:extLst>
            </p:cNvPr>
            <p:cNvSpPr txBox="1"/>
            <p:nvPr/>
          </p:nvSpPr>
          <p:spPr>
            <a:xfrm>
              <a:off x="0" y="19050"/>
              <a:ext cx="2285997" cy="1120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2C65137-B1E9-4969-A985-07CB9907E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0" y="464855"/>
            <a:ext cx="1883827" cy="1329044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DAC753C-8FA1-42D5-B7E1-4C9C8EAC0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0145" y="2545142"/>
            <a:ext cx="1037785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Early Detection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— Faster identification of marine oil spills.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Source Identification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— Correlates AIS data to identify potential responsible vessels.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Drift Prediction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— Predicts spill movement and potentially affected regions.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Better Monitoring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— GIS-based visualization of spill extent and risk. </a:t>
            </a:r>
          </a:p>
        </p:txBody>
      </p:sp>
      <p:grpSp>
        <p:nvGrpSpPr>
          <p:cNvPr id="11" name="Group 12">
            <a:extLst>
              <a:ext uri="{FF2B5EF4-FFF2-40B4-BE49-F238E27FC236}">
                <a16:creationId xmlns:a16="http://schemas.microsoft.com/office/drawing/2014/main" id="{976CE8A0-2216-42A7-8968-0532A9A3930B}"/>
              </a:ext>
            </a:extLst>
          </p:cNvPr>
          <p:cNvGrpSpPr/>
          <p:nvPr/>
        </p:nvGrpSpPr>
        <p:grpSpPr>
          <a:xfrm rot="5400000">
            <a:off x="4384852" y="2640611"/>
            <a:ext cx="3399259" cy="12215036"/>
            <a:chOff x="0" y="0"/>
            <a:chExt cx="2285997" cy="1139766"/>
          </a:xfrm>
        </p:grpSpPr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3A6A6370-B623-42DA-A605-222C0A6EF024}"/>
                </a:ext>
              </a:extLst>
            </p:cNvPr>
            <p:cNvSpPr/>
            <p:nvPr/>
          </p:nvSpPr>
          <p:spPr>
            <a:xfrm>
              <a:off x="0" y="0"/>
              <a:ext cx="2285997" cy="1139766"/>
            </a:xfrm>
            <a:custGeom>
              <a:avLst/>
              <a:gdLst/>
              <a:ahLst/>
              <a:cxnLst/>
              <a:rect l="l" t="t" r="r" b="b"/>
              <a:pathLst>
                <a:path w="2285997" h="1139766">
                  <a:moveTo>
                    <a:pt x="24975" y="0"/>
                  </a:moveTo>
                  <a:lnTo>
                    <a:pt x="2261022" y="0"/>
                  </a:lnTo>
                  <a:cubicBezTo>
                    <a:pt x="2267646" y="0"/>
                    <a:pt x="2273998" y="2631"/>
                    <a:pt x="2278682" y="7315"/>
                  </a:cubicBezTo>
                  <a:cubicBezTo>
                    <a:pt x="2283366" y="11999"/>
                    <a:pt x="2285997" y="18351"/>
                    <a:pt x="2285997" y="24975"/>
                  </a:cubicBezTo>
                  <a:lnTo>
                    <a:pt x="2285997" y="1114791"/>
                  </a:lnTo>
                  <a:cubicBezTo>
                    <a:pt x="2285997" y="1121414"/>
                    <a:pt x="2283366" y="1127767"/>
                    <a:pt x="2278682" y="1132451"/>
                  </a:cubicBezTo>
                  <a:cubicBezTo>
                    <a:pt x="2273998" y="1137134"/>
                    <a:pt x="2267646" y="1139766"/>
                    <a:pt x="2261022" y="1139766"/>
                  </a:cubicBezTo>
                  <a:lnTo>
                    <a:pt x="24975" y="1139766"/>
                  </a:lnTo>
                  <a:cubicBezTo>
                    <a:pt x="18351" y="1139766"/>
                    <a:pt x="11999" y="1137134"/>
                    <a:pt x="7315" y="1132451"/>
                  </a:cubicBezTo>
                  <a:cubicBezTo>
                    <a:pt x="2631" y="1127767"/>
                    <a:pt x="0" y="1121414"/>
                    <a:pt x="0" y="1114791"/>
                  </a:cubicBezTo>
                  <a:lnTo>
                    <a:pt x="0" y="24975"/>
                  </a:lnTo>
                  <a:cubicBezTo>
                    <a:pt x="0" y="18351"/>
                    <a:pt x="2631" y="11999"/>
                    <a:pt x="7315" y="7315"/>
                  </a:cubicBezTo>
                  <a:cubicBezTo>
                    <a:pt x="11999" y="2631"/>
                    <a:pt x="18351" y="0"/>
                    <a:pt x="2497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94500"/>
                  </a:srgbClr>
                </a:gs>
              </a:gsLst>
              <a:lin ang="5400000"/>
            </a:gradFill>
          </p:spPr>
        </p:sp>
        <p:sp>
          <p:nvSpPr>
            <p:cNvPr id="13" name="TextBox 14">
              <a:extLst>
                <a:ext uri="{FF2B5EF4-FFF2-40B4-BE49-F238E27FC236}">
                  <a16:creationId xmlns:a16="http://schemas.microsoft.com/office/drawing/2014/main" id="{CECDD8B8-7372-4AC9-B7B9-540DDC2AA59D}"/>
                </a:ext>
              </a:extLst>
            </p:cNvPr>
            <p:cNvSpPr txBox="1"/>
            <p:nvPr/>
          </p:nvSpPr>
          <p:spPr>
            <a:xfrm>
              <a:off x="0" y="19050"/>
              <a:ext cx="2285997" cy="1120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10" name="Rectangle 2">
            <a:extLst>
              <a:ext uri="{FF2B5EF4-FFF2-40B4-BE49-F238E27FC236}">
                <a16:creationId xmlns:a16="http://schemas.microsoft.com/office/drawing/2014/main" id="{C112521B-A28C-4F5D-9C8F-CEEA0FDF3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601" y="6977580"/>
            <a:ext cx="112776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Faster Response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— Automated risk assessment and alerts support timely action.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Environmental Protection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— Helps reduce damage to coastlines and sensitive marine ecosystems.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Cost Efficient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— Enables large-area monitoring without relying solely on physical surveillance. </a:t>
            </a:r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DE274547-F1C0-4B45-A9D7-B09D43CA966B}"/>
              </a:ext>
            </a:extLst>
          </p:cNvPr>
          <p:cNvSpPr/>
          <p:nvPr/>
        </p:nvSpPr>
        <p:spPr>
          <a:xfrm>
            <a:off x="894930" y="749608"/>
            <a:ext cx="499539" cy="503199"/>
          </a:xfrm>
          <a:custGeom>
            <a:avLst/>
            <a:gdLst/>
            <a:ahLst/>
            <a:cxnLst/>
            <a:rect l="l" t="t" r="r" b="b"/>
            <a:pathLst>
              <a:path w="499539" h="50319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25">
            <a:extLst>
              <a:ext uri="{FF2B5EF4-FFF2-40B4-BE49-F238E27FC236}">
                <a16:creationId xmlns:a16="http://schemas.microsoft.com/office/drawing/2014/main" id="{BEC98D22-84BA-40F0-8A86-862CA69471C6}"/>
              </a:ext>
            </a:extLst>
          </p:cNvPr>
          <p:cNvSpPr txBox="1"/>
          <p:nvPr/>
        </p:nvSpPr>
        <p:spPr>
          <a:xfrm>
            <a:off x="1447986" y="850214"/>
            <a:ext cx="1302079" cy="31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576" b="1" spc="-4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NovaX</a:t>
            </a:r>
            <a:endParaRPr lang="en-US" sz="2576" b="1" spc="-4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</p:spTree>
    <p:extLst>
      <p:ext uri="{BB962C8B-B14F-4D97-AF65-F5344CB8AC3E}">
        <p14:creationId xmlns:p14="http://schemas.microsoft.com/office/powerpoint/2010/main" val="2315064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577" y="845799"/>
            <a:ext cx="499539" cy="503199"/>
          </a:xfrm>
          <a:custGeom>
            <a:avLst/>
            <a:gdLst/>
            <a:ahLst/>
            <a:cxnLst/>
            <a:rect l="l" t="t" r="r" b="b"/>
            <a:pathLst>
              <a:path w="499539" h="50319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080" y="4969147"/>
            <a:ext cx="12415520" cy="4804047"/>
            <a:chOff x="0" y="0"/>
            <a:chExt cx="1776404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76404" cy="406400"/>
            </a:xfrm>
            <a:custGeom>
              <a:avLst/>
              <a:gdLst/>
              <a:ahLst/>
              <a:cxnLst/>
              <a:rect l="l" t="t" r="r" b="b"/>
              <a:pathLst>
                <a:path w="1776404" h="406400">
                  <a:moveTo>
                    <a:pt x="1573204" y="0"/>
                  </a:moveTo>
                  <a:cubicBezTo>
                    <a:pt x="1685428" y="0"/>
                    <a:pt x="1776404" y="90976"/>
                    <a:pt x="1776404" y="203200"/>
                  </a:cubicBezTo>
                  <a:cubicBezTo>
                    <a:pt x="1776404" y="315424"/>
                    <a:pt x="1685428" y="406400"/>
                    <a:pt x="15732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76404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5358" y="1942538"/>
            <a:ext cx="8925842" cy="1829362"/>
            <a:chOff x="0" y="0"/>
            <a:chExt cx="2741709" cy="6948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1709" cy="694817"/>
            </a:xfrm>
            <a:custGeom>
              <a:avLst/>
              <a:gdLst/>
              <a:ahLst/>
              <a:cxnLst/>
              <a:rect l="l" t="t" r="r" b="b"/>
              <a:pathLst>
                <a:path w="2741709" h="694817">
                  <a:moveTo>
                    <a:pt x="26030" y="0"/>
                  </a:moveTo>
                  <a:lnTo>
                    <a:pt x="2715679" y="0"/>
                  </a:lnTo>
                  <a:cubicBezTo>
                    <a:pt x="2722583" y="0"/>
                    <a:pt x="2729204" y="2742"/>
                    <a:pt x="2734085" y="7624"/>
                  </a:cubicBezTo>
                  <a:cubicBezTo>
                    <a:pt x="2738967" y="12505"/>
                    <a:pt x="2741709" y="19126"/>
                    <a:pt x="2741709" y="26030"/>
                  </a:cubicBezTo>
                  <a:lnTo>
                    <a:pt x="2741709" y="668787"/>
                  </a:lnTo>
                  <a:cubicBezTo>
                    <a:pt x="2741709" y="683163"/>
                    <a:pt x="2730055" y="694817"/>
                    <a:pt x="2715679" y="694817"/>
                  </a:cubicBezTo>
                  <a:lnTo>
                    <a:pt x="26030" y="694817"/>
                  </a:lnTo>
                  <a:cubicBezTo>
                    <a:pt x="19126" y="694817"/>
                    <a:pt x="12505" y="692075"/>
                    <a:pt x="7624" y="687193"/>
                  </a:cubicBezTo>
                  <a:cubicBezTo>
                    <a:pt x="2742" y="682312"/>
                    <a:pt x="0" y="675691"/>
                    <a:pt x="0" y="668787"/>
                  </a:cubicBezTo>
                  <a:lnTo>
                    <a:pt x="0" y="26030"/>
                  </a:lnTo>
                  <a:cubicBezTo>
                    <a:pt x="0" y="11654"/>
                    <a:pt x="11654" y="0"/>
                    <a:pt x="260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C4A5B">
                    <a:alpha val="10000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741709" cy="675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387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795032" y="930452"/>
            <a:ext cx="1302079" cy="31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576" b="1" spc="-4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NovaX</a:t>
            </a:r>
            <a:endParaRPr lang="en-US" sz="2576" b="1" spc="-4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44097" y="2247900"/>
            <a:ext cx="8454192" cy="1316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2"/>
              </a:lnSpc>
            </a:pPr>
            <a:r>
              <a:rPr lang="en-US" sz="4896" b="1" spc="-205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Business models and revenue streams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55250" y="13086195"/>
            <a:ext cx="2104383" cy="54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Challenge: Fluctuations in </a:t>
            </a: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1DA109F8-D4B5-4D5A-91D0-DB1044D61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358" y="5372100"/>
            <a:ext cx="1156919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B2G – Government &amp; Coastal Authorities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Subscription-based oil-spill monitoring and early-warning platform.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B2B – Maritime &amp; Shipping Companies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Vessel-risk monitoring, compliance insights and environmental analytics.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API / Data Services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Paid access to spill detections, risk scores, GIS layers and predictive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Enterprise Platform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Customized dashboards, integrations and large-scale monitoring for organizations.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Premium Analytics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Advanced vessel-source correlation, drift prediction and environmental risk reports. 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E8F268A-2A7E-4E97-BC51-8CE6F8FC2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0" y="447163"/>
            <a:ext cx="1883827" cy="1329043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30695D3-D117-461A-B9DE-157EA8167A5D}"/>
              </a:ext>
            </a:extLst>
          </p:cNvPr>
          <p:cNvSpPr/>
          <p:nvPr/>
        </p:nvSpPr>
        <p:spPr>
          <a:xfrm>
            <a:off x="12964442" y="6141541"/>
            <a:ext cx="46482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Revenue Model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SaaS Subscription + API Licensing + Enterprise Contracts + Custom Analytics</a:t>
            </a:r>
            <a:endParaRPr lang="en-IN" sz="2800" b="1" dirty="0">
              <a:solidFill>
                <a:schemeClr val="bg1"/>
              </a:solidFill>
            </a:endParaRPr>
          </a:p>
        </p:txBody>
      </p:sp>
      <p:grpSp>
        <p:nvGrpSpPr>
          <p:cNvPr id="36" name="Group 3">
            <a:extLst>
              <a:ext uri="{FF2B5EF4-FFF2-40B4-BE49-F238E27FC236}">
                <a16:creationId xmlns:a16="http://schemas.microsoft.com/office/drawing/2014/main" id="{4D9F2689-295C-4A13-A228-B018EF5473D6}"/>
              </a:ext>
            </a:extLst>
          </p:cNvPr>
          <p:cNvGrpSpPr/>
          <p:nvPr/>
        </p:nvGrpSpPr>
        <p:grpSpPr>
          <a:xfrm>
            <a:off x="12725400" y="6896100"/>
            <a:ext cx="5034851" cy="1676400"/>
            <a:chOff x="0" y="0"/>
            <a:chExt cx="1776404" cy="406400"/>
          </a:xfrm>
        </p:grpSpPr>
        <p:sp>
          <p:nvSpPr>
            <p:cNvPr id="37" name="Freeform 4">
              <a:extLst>
                <a:ext uri="{FF2B5EF4-FFF2-40B4-BE49-F238E27FC236}">
                  <a16:creationId xmlns:a16="http://schemas.microsoft.com/office/drawing/2014/main" id="{8E8EC0F2-A218-4963-B044-3F443367CDBD}"/>
                </a:ext>
              </a:extLst>
            </p:cNvPr>
            <p:cNvSpPr/>
            <p:nvPr/>
          </p:nvSpPr>
          <p:spPr>
            <a:xfrm>
              <a:off x="0" y="0"/>
              <a:ext cx="1776404" cy="406400"/>
            </a:xfrm>
            <a:custGeom>
              <a:avLst/>
              <a:gdLst/>
              <a:ahLst/>
              <a:cxnLst/>
              <a:rect l="l" t="t" r="r" b="b"/>
              <a:pathLst>
                <a:path w="1776404" h="406400">
                  <a:moveTo>
                    <a:pt x="1573204" y="0"/>
                  </a:moveTo>
                  <a:cubicBezTo>
                    <a:pt x="1685428" y="0"/>
                    <a:pt x="1776404" y="90976"/>
                    <a:pt x="1776404" y="203200"/>
                  </a:cubicBezTo>
                  <a:cubicBezTo>
                    <a:pt x="1776404" y="315424"/>
                    <a:pt x="1685428" y="406400"/>
                    <a:pt x="15732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8" name="TextBox 5">
              <a:extLst>
                <a:ext uri="{FF2B5EF4-FFF2-40B4-BE49-F238E27FC236}">
                  <a16:creationId xmlns:a16="http://schemas.microsoft.com/office/drawing/2014/main" id="{13C2841A-1B85-49D2-A6A0-302A4BE3681B}"/>
                </a:ext>
              </a:extLst>
            </p:cNvPr>
            <p:cNvSpPr txBox="1"/>
            <p:nvPr/>
          </p:nvSpPr>
          <p:spPr>
            <a:xfrm>
              <a:off x="0" y="-38100"/>
              <a:ext cx="1776404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12338" y="-7228893"/>
            <a:ext cx="11404113" cy="11487660"/>
          </a:xfrm>
          <a:custGeom>
            <a:avLst/>
            <a:gdLst/>
            <a:ahLst/>
            <a:cxnLst/>
            <a:rect l="l" t="t" r="r" b="b"/>
            <a:pathLst>
              <a:path w="11404113" h="11487660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4577" y="845799"/>
            <a:ext cx="499539" cy="503199"/>
          </a:xfrm>
          <a:custGeom>
            <a:avLst/>
            <a:gdLst/>
            <a:ahLst/>
            <a:cxnLst/>
            <a:rect l="l" t="t" r="r" b="b"/>
            <a:pathLst>
              <a:path w="499539" h="50319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576" b="1" spc="-4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ginyard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6625" y="1580791"/>
            <a:ext cx="9558399" cy="119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48"/>
              </a:lnSpc>
            </a:pPr>
            <a:r>
              <a:rPr lang="en-US" sz="6600" b="1" spc="-405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Research and </a:t>
            </a:r>
            <a:r>
              <a:rPr lang="en-US" sz="6600" b="1" spc="-405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Referenece</a:t>
            </a:r>
            <a:endParaRPr lang="en-US" sz="6600" b="1" spc="-405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grpSp>
        <p:nvGrpSpPr>
          <p:cNvPr id="12" name="Group 12"/>
          <p:cNvGrpSpPr/>
          <p:nvPr/>
        </p:nvGrpSpPr>
        <p:grpSpPr>
          <a:xfrm rot="-851681">
            <a:off x="808966" y="7541919"/>
            <a:ext cx="21825170" cy="18180272"/>
            <a:chOff x="0" y="0"/>
            <a:chExt cx="5748193" cy="47882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48193" cy="4788220"/>
            </a:xfrm>
            <a:custGeom>
              <a:avLst/>
              <a:gdLst/>
              <a:ahLst/>
              <a:cxnLst/>
              <a:rect l="l" t="t" r="r" b="b"/>
              <a:pathLst>
                <a:path w="5748193" h="4788220">
                  <a:moveTo>
                    <a:pt x="0" y="0"/>
                  </a:moveTo>
                  <a:lnTo>
                    <a:pt x="5748193" y="0"/>
                  </a:lnTo>
                  <a:lnTo>
                    <a:pt x="5748193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1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5748193" cy="4769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17" name="Rectangle 2">
            <a:extLst>
              <a:ext uri="{FF2B5EF4-FFF2-40B4-BE49-F238E27FC236}">
                <a16:creationId xmlns:a16="http://schemas.microsoft.com/office/drawing/2014/main" id="{822641E8-CA46-4748-967D-89AA63DCF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212078"/>
            <a:ext cx="1504450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Bianchi, F. M.,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Espeseth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M. M., &amp;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Borch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N. (2020)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Large-Scale Detection and Categorization of Oil Spills from SAR Images with Deep Learning.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Remote Sensing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Shaban, M. et al. (2021)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Deep-Learning Framework for the Detection of Oil Spills from SAR Data.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Sensors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Hasimoto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-Beltran, R. et al. (2023)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Ocean Oil Spill Detection from SAR Images Based on Multi-Channel Deep Learning Semantic Segmentation.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Marine Pollution Bulletin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Luo, D. et al. (2024)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New Ship Tracing Technology from Oil Spills Based on Multi-Source Data.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Marine Pollution Bulletin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Prasad, S. J. et al. (2019)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Oil Spill Trajectory Prediction with High-Resolution Ocean Currents.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Journal of Operational Oceanography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722C535-F97A-4858-ADF3-BADE494A3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78200" y="447163"/>
            <a:ext cx="1883827" cy="13290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48EEE40-480D-464C-AD7B-26A6CF3AA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68400" y="475361"/>
            <a:ext cx="1883827" cy="13717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577" y="845799"/>
            <a:ext cx="499539" cy="503199"/>
          </a:xfrm>
          <a:custGeom>
            <a:avLst/>
            <a:gdLst/>
            <a:ahLst/>
            <a:cxnLst/>
            <a:rect l="l" t="t" r="r" b="b"/>
            <a:pathLst>
              <a:path w="499539" h="50319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374770">
            <a:off x="-1761873" y="6478089"/>
            <a:ext cx="20251759" cy="18180272"/>
            <a:chOff x="0" y="0"/>
            <a:chExt cx="5333797" cy="47882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33797" cy="4788220"/>
            </a:xfrm>
            <a:custGeom>
              <a:avLst/>
              <a:gdLst/>
              <a:ahLst/>
              <a:cxnLst/>
              <a:rect l="l" t="t" r="r" b="b"/>
              <a:pathLst>
                <a:path w="5333797" h="4788220">
                  <a:moveTo>
                    <a:pt x="0" y="0"/>
                  </a:moveTo>
                  <a:lnTo>
                    <a:pt x="5333797" y="0"/>
                  </a:lnTo>
                  <a:lnTo>
                    <a:pt x="5333797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1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5333797" cy="4769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890725" y="930452"/>
            <a:ext cx="1302079" cy="31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576" b="1" spc="-4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NovaX</a:t>
            </a:r>
            <a:endParaRPr lang="en-US" sz="2576" b="1" spc="-4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890725" y="3208675"/>
            <a:ext cx="14126257" cy="193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1"/>
              </a:lnSpc>
            </a:pPr>
            <a:r>
              <a:rPr lang="en-US" sz="14279" b="1" spc="-599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Thank you</a:t>
            </a:r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27B37C8B-CB18-40DF-AB5C-4918413ABF55}"/>
              </a:ext>
            </a:extLst>
          </p:cNvPr>
          <p:cNvSpPr txBox="1"/>
          <p:nvPr/>
        </p:nvSpPr>
        <p:spPr>
          <a:xfrm>
            <a:off x="5562600" y="5430351"/>
            <a:ext cx="8454192" cy="67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92"/>
              </a:lnSpc>
            </a:pPr>
            <a:r>
              <a:rPr lang="en-IN" sz="54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hlinkClick r:id="rId4"/>
              </a:rPr>
              <a:t>🔗 GitHub Repository</a:t>
            </a:r>
            <a:endParaRPr lang="en-US" sz="4896" b="1" spc="-205" dirty="0">
              <a:solidFill>
                <a:schemeClr val="bg1"/>
              </a:solidFill>
              <a:latin typeface="+mj-lt"/>
              <a:ea typeface="Arial MT Pro Bold"/>
              <a:cs typeface="Times New Roman" panose="02020603050405020304" pitchFamily="18" charset="0"/>
              <a:sym typeface="Arial MT Pro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1512</TotalTime>
  <Words>744</Words>
  <Application>Microsoft Office PowerPoint</Application>
  <PresentationFormat>Custom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Calibri</vt:lpstr>
      <vt:lpstr>Times New Roman</vt:lpstr>
      <vt:lpstr>Arial MT Pro 8</vt:lpstr>
      <vt:lpstr>Arial MT Pro Bold</vt:lpstr>
      <vt:lpstr>Funnel Display Regular</vt:lpstr>
      <vt:lpstr>Arial MT</vt:lpstr>
      <vt:lpstr>Funnel Display 300</vt:lpstr>
      <vt:lpstr>Arial</vt:lpstr>
      <vt:lpstr>Arial MT Pro</vt:lpstr>
      <vt:lpstr>Funnel Display 600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24</cp:revision>
  <dcterms:created xsi:type="dcterms:W3CDTF">2006-08-16T00:00:00Z</dcterms:created>
  <dcterms:modified xsi:type="dcterms:W3CDTF">2026-08-29T09:05:31Z</dcterms:modified>
  <dc:identifier>DAHRt5T6MjQ</dc:identifier>
</cp:coreProperties>
</file>